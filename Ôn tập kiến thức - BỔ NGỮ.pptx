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4" r:id="rId4"/>
    <p:sldId id="261" r:id="rId5"/>
    <p:sldId id="263" r:id="rId6"/>
    <p:sldId id="260" r:id="rId7"/>
    <p:sldId id="265" r:id="rId8"/>
    <p:sldId id="266" r:id="rId9"/>
    <p:sldId id="262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87" r:id="rId23"/>
    <p:sldId id="288" r:id="rId24"/>
    <p:sldId id="289" r:id="rId25"/>
    <p:sldId id="290" r:id="rId26"/>
    <p:sldId id="291" r:id="rId27"/>
    <p:sldId id="279" r:id="rId28"/>
    <p:sldId id="292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C2A0-4F51-3823-6DC4-37D25B403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0FF70-764E-0B3C-9E15-0D58C2375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89CE-C679-DF1E-8E8F-DBECDE6A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CB43-934B-C10B-8FAB-C3D1FA9E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43FB-C59E-EE08-B8A6-9DE674C9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8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A449-F8A0-32F9-995D-2AC2998C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5565-8501-E14F-9DDD-192EDBBFE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54527-545F-A74A-4731-C6AC4FBA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7F7E2-5AD7-BECB-27FF-9DD3D2BF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AA076-64FB-956A-EC6E-5AEC6A38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67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B4BA-FF72-9605-06EA-022D5838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59AA3-9458-064E-29C3-ED4CAD2F8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9818-0CA8-B1A5-A92D-01EE50A3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8268-D251-8CC0-1E61-95EFF0C4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0CBCF-FBC2-A452-4524-5FF2E81C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61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4DE9-A2B4-B5C5-3D7E-ADF58E3D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8E3D-E500-AD6A-A604-F1DAEFE6C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9DCE2-3F14-6AA4-5828-DAD21E036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18941-87FA-C3A9-9BFF-27C4EB8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C2575-2014-6FCB-CC0B-0F65288C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9A85-EBE1-C3A6-D4FC-C05BC3C1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2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39A35-D0EA-6793-0CFA-49C69091F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9B139-29F3-E4B4-4A6C-5CBAB6B63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AA7F8-02C0-D3E7-21FC-C984EE76A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CD459-C5DC-7A6D-02B9-FA0113C93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31A8A-0BB7-2ADE-5D30-572B4296F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E972A9-16E2-7507-39B8-4EACA03C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DBFB67-A185-B638-A977-3DC0B8B0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CD20E9-9715-4338-1D9E-ABA42EFF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55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936B-6702-489B-74C3-6250AC91F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2D569-F6B3-69F8-A1DF-557E9DF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31E38-E2F3-03C3-6544-E8088713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42077-15CB-61B3-2670-51EC8D14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55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30608-31C7-152B-9B29-589162ED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71606-C9C5-31B7-22D2-36CC3BC1C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7A3D1-BB41-A467-064E-1514961C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75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B8E1-1FDF-643D-7847-45203B07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00D7F-5F8A-20E7-228E-6B55BEDCA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B3DE2-892A-9FDB-1044-F998AEA06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74442-4960-456E-B5E7-ABDF07BC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DB718-9A0C-F8B9-7B9F-A6EFF404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ED7E7-0187-1353-CC95-357BFA2A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57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FFB0-C75D-A1FB-C142-122170D9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F0FB7E-1F20-0705-F260-CE14F7270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BFE22-917F-013F-8392-2B7E46EDB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2D96E9-5D18-6980-5AD4-1CDE9B0D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BFA3B-59A8-1D8A-08CD-A2D33C60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0D1E3-3EBA-28B4-7A25-5806933B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55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EB2D-097F-069A-A6C3-AA1153D3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6F215-7D3F-AF1C-9B91-7CF286BBD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A18C-1B15-5A34-2D5F-95ACD9BE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2EF5E-E48D-220C-17B3-935A8A03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3228-013D-D9EB-152B-92D2D54A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24596-86EB-3EB8-A638-46079FDC2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D8FB2-7749-5BFB-A355-862038AB9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21EE2-56BA-3145-A1A4-00F68BA34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0B9F3-76B6-7F7D-C7DE-A4B40BCE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39AD2-B122-8786-D9C2-93CE33B8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02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273BAA-0FD8-C850-C481-C431D2F7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82F21-BCD7-32D0-A35E-89ABE7B82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B920-A99A-0C38-A1A0-DBE2D42D0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65167-95BF-46AD-8C23-79D7D5069A40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CAA2E-EB06-9FCF-0964-9540AE507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0017-98AA-C2A7-50E8-0FEAFB34F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1F1F6-512B-4FF0-A2BC-E12367C4F1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46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AC9712-90A7-BA71-27AC-6BE8EECB9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78" y="1599058"/>
            <a:ext cx="2908044" cy="29080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A27259-2D53-1C02-095D-D26F5762EF1A}"/>
              </a:ext>
            </a:extLst>
          </p:cNvPr>
          <p:cNvSpPr txBox="1"/>
          <p:nvPr/>
        </p:nvSpPr>
        <p:spPr>
          <a:xfrm>
            <a:off x="5313680" y="3007360"/>
            <a:ext cx="2367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>
                <a:latin typeface="Bahnschrift Light Condensed" panose="020B0502040204020203" pitchFamily="34" charset="0"/>
              </a:rPr>
              <a:t>BỔ NGỮ</a:t>
            </a:r>
            <a:endParaRPr lang="en-GB" sz="6600">
              <a:latin typeface="Bahnschrift Light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0D7B3-F4DC-227A-3DCB-42081BD75C67}"/>
              </a:ext>
            </a:extLst>
          </p:cNvPr>
          <p:cNvSpPr txBox="1"/>
          <p:nvPr/>
        </p:nvSpPr>
        <p:spPr>
          <a:xfrm>
            <a:off x="5313680" y="4025314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Bổ ngữ xu hướng</a:t>
            </a:r>
          </a:p>
        </p:txBody>
      </p:sp>
    </p:spTree>
    <p:extLst>
      <p:ext uri="{BB962C8B-B14F-4D97-AF65-F5344CB8AC3E}">
        <p14:creationId xmlns:p14="http://schemas.microsoft.com/office/powerpoint/2010/main" val="417480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2AD734-3889-14AC-9330-E0659297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93031" cy="12903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470B4D-B97C-3FDD-0476-C9CC9D4F9168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881B1-7ED0-7CDB-3416-3B7F6F3E9D37}"/>
              </a:ext>
            </a:extLst>
          </p:cNvPr>
          <p:cNvSpPr txBox="1"/>
          <p:nvPr/>
        </p:nvSpPr>
        <p:spPr>
          <a:xfrm>
            <a:off x="1293031" y="274657"/>
            <a:ext cx="4683760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6000">
                <a:latin typeface="Bahnschrift Light Condensed" panose="020B0502040204020203" pitchFamily="34" charset="0"/>
              </a:rPr>
              <a:t>BỔ NGỮ XU HƯỚNG</a:t>
            </a:r>
            <a:endParaRPr lang="en-GB" sz="6000"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075F4-2024-1899-C58A-0E615C2010AE}"/>
              </a:ext>
            </a:extLst>
          </p:cNvPr>
          <p:cNvSpPr txBox="1"/>
          <p:nvPr/>
        </p:nvSpPr>
        <p:spPr>
          <a:xfrm>
            <a:off x="1293031" y="1290320"/>
            <a:ext cx="45997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Bahnschrift Light Condensed" panose="020B0502040204020203" pitchFamily="34" charset="0"/>
              </a:rPr>
              <a:t>BIỂU THỊ HƯỚNG CỦA HÀNH ĐỘNG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Hướng về người nói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Hướng ra xa người nói</a:t>
            </a:r>
            <a:endParaRPr lang="en-GB" sz="28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5849B-D016-A7E4-F591-CB60201BE2F9}"/>
              </a:ext>
            </a:extLst>
          </p:cNvPr>
          <p:cNvSpPr txBox="1"/>
          <p:nvPr/>
        </p:nvSpPr>
        <p:spPr>
          <a:xfrm>
            <a:off x="1293031" y="2736502"/>
            <a:ext cx="37564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>
                <a:latin typeface="Bahnschrift Light Condensed" panose="020B0502040204020203" pitchFamily="34" charset="0"/>
              </a:rPr>
              <a:t>CÓ HAI LOẠI CHÍNH: </a:t>
            </a:r>
            <a:endParaRPr lang="en-US" sz="2800">
              <a:latin typeface="Bahnschrift Light Condensed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vi-VN" sz="2800">
                <a:solidFill>
                  <a:schemeClr val="tx2"/>
                </a:solidFill>
                <a:latin typeface="Bahnschrift Light Condensed" panose="020B0502040204020203" pitchFamily="34" charset="0"/>
              </a:rPr>
              <a:t>Bổ ngữ xu hướng đơn </a:t>
            </a:r>
            <a:endParaRPr lang="en-US" sz="2800">
              <a:solidFill>
                <a:schemeClr val="tx2"/>
              </a:solidFill>
              <a:latin typeface="Bahnschrift Light Condensed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vi-VN" sz="2800">
                <a:solidFill>
                  <a:schemeClr val="tx2"/>
                </a:solidFill>
                <a:latin typeface="Bahnschrift Light Condensed" panose="020B0502040204020203" pitchFamily="34" charset="0"/>
              </a:rPr>
              <a:t>Bổ ngữ xu hướng kép.</a:t>
            </a:r>
            <a:endParaRPr lang="en-GB" sz="2800">
              <a:solidFill>
                <a:schemeClr val="tx2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4643F-2E35-C020-E17F-16C8031E18EE}"/>
              </a:ext>
            </a:extLst>
          </p:cNvPr>
          <p:cNvSpPr txBox="1"/>
          <p:nvPr/>
        </p:nvSpPr>
        <p:spPr>
          <a:xfrm>
            <a:off x="1293031" y="4327247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Bahnschrift Light Condensed" panose="020B0502040204020203" pitchFamily="34" charset="0"/>
              </a:rPr>
              <a:t>CÔNG THỨC:</a:t>
            </a:r>
            <a:endParaRPr lang="en-GB" sz="2800">
              <a:latin typeface="Bahnschrift Light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4CD2B-E2D1-D86A-0339-455E4A3B4999}"/>
              </a:ext>
            </a:extLst>
          </p:cNvPr>
          <p:cNvSpPr txBox="1"/>
          <p:nvPr/>
        </p:nvSpPr>
        <p:spPr>
          <a:xfrm>
            <a:off x="4297680" y="4465746"/>
            <a:ext cx="3563620" cy="7694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4400" b="1">
                <a:latin typeface="Bahnschrift Light Condensed" panose="020B0502040204020203" pitchFamily="34" charset="0"/>
              </a:rPr>
              <a:t>Động từ </a:t>
            </a:r>
            <a:r>
              <a:rPr lang="en-GB" sz="4400">
                <a:latin typeface="Bahnschrift Light Condensed" panose="020B0502040204020203" pitchFamily="34" charset="0"/>
              </a:rPr>
              <a:t>+ </a:t>
            </a:r>
            <a:r>
              <a:rPr lang="zh-CN" altLang="en-US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去</a:t>
            </a:r>
            <a:endParaRPr lang="en-GB" sz="440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8601E8-300F-5026-CC00-BC2218EBB201}"/>
              </a:ext>
            </a:extLst>
          </p:cNvPr>
          <p:cNvSpPr txBox="1"/>
          <p:nvPr/>
        </p:nvSpPr>
        <p:spPr>
          <a:xfrm>
            <a:off x="4186726" y="5235187"/>
            <a:ext cx="2711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latin typeface="Bahnschrift Light Condensed" panose="020B0502040204020203" pitchFamily="34" charset="0"/>
              </a:rPr>
              <a:t>Trong đó:</a:t>
            </a:r>
          </a:p>
          <a:p>
            <a:r>
              <a:rPr lang="zh-CN" altLang="en-US" sz="24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来</a:t>
            </a:r>
            <a:r>
              <a:rPr lang="zh-CN" altLang="en-US" sz="2400">
                <a:latin typeface="Bahnschrift Light Condensed" panose="020B0502040204020203" pitchFamily="34" charset="0"/>
              </a:rPr>
              <a:t> </a:t>
            </a:r>
            <a:r>
              <a:rPr lang="en-US" altLang="zh-CN" sz="2400">
                <a:latin typeface="Bahnschrift Light Condensed" panose="020B0502040204020203" pitchFamily="34" charset="0"/>
              </a:rPr>
              <a:t>(Đ</a:t>
            </a:r>
            <a:r>
              <a:rPr lang="vi-VN" sz="2400">
                <a:latin typeface="Bahnschrift Light Condensed" panose="020B0502040204020203" pitchFamily="34" charset="0"/>
              </a:rPr>
              <a:t>ến gần người nói) </a:t>
            </a:r>
            <a:endParaRPr lang="en-US" sz="2400">
              <a:latin typeface="Bahnschrift Light Condensed" panose="020B0502040204020203" pitchFamily="34" charset="0"/>
            </a:endParaRPr>
          </a:p>
          <a:p>
            <a:r>
              <a:rPr lang="zh-CN" altLang="en-US" sz="24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去</a:t>
            </a:r>
            <a:r>
              <a:rPr lang="zh-CN" altLang="en-US" sz="2400">
                <a:latin typeface="Bahnschrift Light Condensed" panose="020B0502040204020203" pitchFamily="34" charset="0"/>
              </a:rPr>
              <a:t> </a:t>
            </a:r>
            <a:r>
              <a:rPr lang="en-US" altLang="zh-CN" sz="2400">
                <a:latin typeface="Bahnschrift Light Condensed" panose="020B0502040204020203" pitchFamily="34" charset="0"/>
              </a:rPr>
              <a:t>(R</a:t>
            </a:r>
            <a:r>
              <a:rPr lang="vi-VN" sz="2400">
                <a:latin typeface="Bahnschrift Light Condensed" panose="020B0502040204020203" pitchFamily="34" charset="0"/>
              </a:rPr>
              <a:t>a xa người nói).</a:t>
            </a:r>
            <a:endParaRPr lang="en-GB" sz="240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56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939AD-7D53-B35C-6289-475F59D71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A9B8CD-E090-9BBA-C0F5-716AC25C83A1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B98D0-9A83-8B86-C4D9-65C571393E57}"/>
              </a:ext>
            </a:extLst>
          </p:cNvPr>
          <p:cNvSpPr txBox="1"/>
          <p:nvPr/>
        </p:nvSpPr>
        <p:spPr>
          <a:xfrm>
            <a:off x="944880" y="2107352"/>
            <a:ext cx="205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进</a:t>
            </a:r>
            <a:r>
              <a:rPr lang="zh-CN" altLang="en-US" sz="54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来</a:t>
            </a:r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！</a:t>
            </a:r>
            <a:endParaRPr lang="en-GB" sz="5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C3D83-5680-F374-CB99-D4BB2D435CBB}"/>
              </a:ext>
            </a:extLst>
          </p:cNvPr>
          <p:cNvSpPr txBox="1"/>
          <p:nvPr/>
        </p:nvSpPr>
        <p:spPr>
          <a:xfrm>
            <a:off x="944880" y="3187396"/>
            <a:ext cx="205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进</a:t>
            </a:r>
            <a:r>
              <a:rPr lang="zh-CN" altLang="en-US" sz="54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去</a:t>
            </a:r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！</a:t>
            </a:r>
            <a:endParaRPr lang="en-GB" sz="5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9ED9D-DD8C-29AC-2C85-5F3E286C10E6}"/>
              </a:ext>
            </a:extLst>
          </p:cNvPr>
          <p:cNvSpPr txBox="1"/>
          <p:nvPr/>
        </p:nvSpPr>
        <p:spPr>
          <a:xfrm>
            <a:off x="944880" y="4303021"/>
            <a:ext cx="205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出</a:t>
            </a:r>
            <a:r>
              <a:rPr lang="zh-CN" altLang="en-US" sz="54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来</a:t>
            </a:r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！</a:t>
            </a:r>
            <a:endParaRPr lang="en-GB" sz="5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98C43-D78A-9A48-1FA6-A4C296952EA7}"/>
              </a:ext>
            </a:extLst>
          </p:cNvPr>
          <p:cNvSpPr txBox="1"/>
          <p:nvPr/>
        </p:nvSpPr>
        <p:spPr>
          <a:xfrm>
            <a:off x="944880" y="5265641"/>
            <a:ext cx="205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出</a:t>
            </a:r>
            <a:r>
              <a:rPr lang="zh-CN" altLang="en-US" sz="54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去</a:t>
            </a:r>
            <a:r>
              <a:rPr lang="zh-CN" altLang="en-US" sz="5400">
                <a:latin typeface="SimSun" panose="02010600030101010101" pitchFamily="2" charset="-122"/>
                <a:ea typeface="SimSun" panose="02010600030101010101" pitchFamily="2" charset="-122"/>
              </a:rPr>
              <a:t>！</a:t>
            </a:r>
            <a:endParaRPr lang="en-GB" sz="5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D5854-F903-236C-FA2E-4294427BFF5D}"/>
              </a:ext>
            </a:extLst>
          </p:cNvPr>
          <p:cNvSpPr txBox="1"/>
          <p:nvPr/>
        </p:nvSpPr>
        <p:spPr>
          <a:xfrm>
            <a:off x="2786380" y="2212013"/>
            <a:ext cx="6032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Vào đây! 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</a:t>
            </a:r>
            <a:r>
              <a:rPr lang="vi-VN" sz="3200" u="sng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trong phòng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).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5978EA-B80A-BDA1-675F-7D36ED308F7B}"/>
              </a:ext>
            </a:extLst>
          </p:cNvPr>
          <p:cNvSpPr txBox="1"/>
          <p:nvPr/>
        </p:nvSpPr>
        <p:spPr>
          <a:xfrm>
            <a:off x="2895600" y="3252110"/>
            <a:ext cx="573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Vào đi! 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</a:t>
            </a:r>
            <a:r>
              <a:rPr lang="vi-VN" sz="3200" u="sng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ngoài phòng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).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444BB-302E-064C-A70A-68BEDE86F1AC}"/>
              </a:ext>
            </a:extLst>
          </p:cNvPr>
          <p:cNvSpPr txBox="1"/>
          <p:nvPr/>
        </p:nvSpPr>
        <p:spPr>
          <a:xfrm>
            <a:off x="2997200" y="4469679"/>
            <a:ext cx="582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latin typeface="Bahnschrift Light Condensed" panose="020B0502040204020203" pitchFamily="34" charset="0"/>
              </a:rPr>
              <a:t>Ra</a:t>
            </a:r>
            <a:r>
              <a:rPr lang="vi-VN" sz="4000">
                <a:latin typeface="Bahnschrift Light Condensed" panose="020B0502040204020203" pitchFamily="34" charset="0"/>
              </a:rPr>
              <a:t> đây! 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</a:t>
            </a:r>
            <a:r>
              <a:rPr lang="en-US" sz="3200" u="sng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ngoài</a:t>
            </a:r>
            <a:r>
              <a:rPr lang="vi-VN" sz="3200" u="sng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 phòng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).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EE7F0-A081-F0E0-EE51-A4C1DF12F1E8}"/>
              </a:ext>
            </a:extLst>
          </p:cNvPr>
          <p:cNvSpPr txBox="1"/>
          <p:nvPr/>
        </p:nvSpPr>
        <p:spPr>
          <a:xfrm>
            <a:off x="2997200" y="5441794"/>
            <a:ext cx="6167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latin typeface="Bahnschrift Light Condensed" panose="020B0502040204020203" pitchFamily="34" charset="0"/>
              </a:rPr>
              <a:t>Ra</a:t>
            </a:r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en-US" sz="4000">
                <a:latin typeface="Bahnschrift Light Condensed" panose="020B0502040204020203" pitchFamily="34" charset="0"/>
              </a:rPr>
              <a:t>đó đi</a:t>
            </a:r>
            <a:r>
              <a:rPr lang="vi-VN" sz="4000">
                <a:latin typeface="Bahnschrift Light Condensed" panose="020B0502040204020203" pitchFamily="34" charset="0"/>
              </a:rPr>
              <a:t>! 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</a:t>
            </a:r>
            <a:r>
              <a:rPr lang="en-US" sz="3200" u="sng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trong</a:t>
            </a:r>
            <a:r>
              <a:rPr lang="vi-VN" sz="3200" u="sng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 phòng</a:t>
            </a:r>
            <a:r>
              <a:rPr lang="vi-VN" sz="32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).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2" name="Explosion: 8 Points 11">
            <a:extLst>
              <a:ext uri="{FF2B5EF4-FFF2-40B4-BE49-F238E27FC236}">
                <a16:creationId xmlns:a16="http://schemas.microsoft.com/office/drawing/2014/main" id="{AC672743-4859-8B03-5573-78EBA285776B}"/>
              </a:ext>
            </a:extLst>
          </p:cNvPr>
          <p:cNvSpPr/>
          <p:nvPr/>
        </p:nvSpPr>
        <p:spPr>
          <a:xfrm>
            <a:off x="0" y="0"/>
            <a:ext cx="1239520" cy="1310640"/>
          </a:xfrm>
          <a:prstGeom prst="irregularSeal1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FF1F64-3735-E820-436C-9CB661988680}"/>
              </a:ext>
            </a:extLst>
          </p:cNvPr>
          <p:cNvSpPr txBox="1"/>
          <p:nvPr/>
        </p:nvSpPr>
        <p:spPr>
          <a:xfrm>
            <a:off x="1239520" y="233195"/>
            <a:ext cx="4358640" cy="76944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Bahnschrift Light Condensed" panose="020B0502040204020203" pitchFamily="34" charset="0"/>
              </a:rPr>
              <a:t>BỔ NGỮ XU HƯỚNG </a:t>
            </a:r>
            <a:r>
              <a:rPr lang="en-US" sz="44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Đơn</a:t>
            </a:r>
            <a:endParaRPr lang="en-GB" sz="4400" b="1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83BA6E-7902-009A-A486-747C3DE1F76A}"/>
              </a:ext>
            </a:extLst>
          </p:cNvPr>
          <p:cNvSpPr txBox="1"/>
          <p:nvPr/>
        </p:nvSpPr>
        <p:spPr>
          <a:xfrm>
            <a:off x="4582160" y="1295714"/>
            <a:ext cx="3563620" cy="7694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4400" b="1">
                <a:latin typeface="Bahnschrift Light Condensed" panose="020B0502040204020203" pitchFamily="34" charset="0"/>
              </a:rPr>
              <a:t>Động từ </a:t>
            </a:r>
            <a:r>
              <a:rPr lang="en-GB" sz="4400">
                <a:latin typeface="Bahnschrift Light Condensed" panose="020B0502040204020203" pitchFamily="34" charset="0"/>
              </a:rPr>
              <a:t>+ </a:t>
            </a:r>
            <a:r>
              <a:rPr lang="zh-CN" altLang="en-US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去</a:t>
            </a:r>
            <a:endParaRPr lang="en-GB" sz="440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1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8F4EB0-E956-8DCD-F337-684D4476E48A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xplosion: 8 Points 11">
            <a:extLst>
              <a:ext uri="{FF2B5EF4-FFF2-40B4-BE49-F238E27FC236}">
                <a16:creationId xmlns:a16="http://schemas.microsoft.com/office/drawing/2014/main" id="{BC07D3A4-C9DB-E2EF-5CFB-6BA569247CA1}"/>
              </a:ext>
            </a:extLst>
          </p:cNvPr>
          <p:cNvSpPr/>
          <p:nvPr/>
        </p:nvSpPr>
        <p:spPr>
          <a:xfrm>
            <a:off x="0" y="0"/>
            <a:ext cx="1239520" cy="1310640"/>
          </a:xfrm>
          <a:prstGeom prst="irregularSeal1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559361-8582-B9B9-FF1A-5B27C6A6C909}"/>
              </a:ext>
            </a:extLst>
          </p:cNvPr>
          <p:cNvSpPr txBox="1"/>
          <p:nvPr/>
        </p:nvSpPr>
        <p:spPr>
          <a:xfrm>
            <a:off x="1239520" y="233195"/>
            <a:ext cx="4358640" cy="76944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Bahnschrift Light Condensed" panose="020B0502040204020203" pitchFamily="34" charset="0"/>
              </a:rPr>
              <a:t>BỔ NGỮ XU HƯỚNG </a:t>
            </a:r>
            <a:r>
              <a:rPr lang="en-US" sz="44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Kép</a:t>
            </a:r>
            <a:endParaRPr lang="en-GB" sz="4400" b="1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D9C6FD-E95C-1E78-595C-71E50C39DAD7}"/>
              </a:ext>
            </a:extLst>
          </p:cNvPr>
          <p:cNvSpPr txBox="1"/>
          <p:nvPr/>
        </p:nvSpPr>
        <p:spPr>
          <a:xfrm>
            <a:off x="1239520" y="2566759"/>
            <a:ext cx="9966960" cy="7694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4400" b="1">
                <a:latin typeface="Bahnschrift Light Condensed" panose="020B0502040204020203" pitchFamily="34" charset="0"/>
              </a:rPr>
              <a:t>Động từ chính + </a:t>
            </a:r>
            <a:r>
              <a:rPr lang="en-GB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Động từ chỉ phương hướng </a:t>
            </a:r>
            <a:r>
              <a:rPr lang="en-GB" sz="4400">
                <a:latin typeface="Bahnschrift Light Condensed" panose="020B0502040204020203" pitchFamily="34" charset="0"/>
              </a:rPr>
              <a:t>+ </a:t>
            </a:r>
            <a:r>
              <a:rPr lang="zh-CN" altLang="en-US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4400">
                <a:solidFill>
                  <a:srgbClr val="C00000"/>
                </a:solidFill>
                <a:latin typeface="Bahnschrift Light Condensed" panose="020B0502040204020203" pitchFamily="34" charset="0"/>
              </a:rPr>
              <a:t>去</a:t>
            </a:r>
            <a:endParaRPr lang="en-GB" sz="440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1B6DBF-4CF7-2B10-465F-5FB2A7C424C6}"/>
              </a:ext>
            </a:extLst>
          </p:cNvPr>
          <p:cNvSpPr txBox="1"/>
          <p:nvPr/>
        </p:nvSpPr>
        <p:spPr>
          <a:xfrm>
            <a:off x="1239520" y="1161330"/>
            <a:ext cx="711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Là sự kết hợp giữa một </a:t>
            </a:r>
            <a:r>
              <a:rPr lang="vi-VN" sz="32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động từ chỉ phương hướng</a:t>
            </a:r>
            <a:r>
              <a:rPr lang="en-US" sz="3200">
                <a:latin typeface="Bahnschrift Light Condensed" panose="020B0502040204020203" pitchFamily="34" charset="0"/>
              </a:rPr>
              <a:t>:</a:t>
            </a:r>
          </a:p>
          <a:p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上</a:t>
            </a:r>
            <a:r>
              <a:rPr lang="en-US" altLang="zh-CN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</a:t>
            </a:r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下</a:t>
            </a:r>
            <a:r>
              <a:rPr lang="en-US" altLang="zh-CN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</a:t>
            </a:r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进</a:t>
            </a:r>
            <a:r>
              <a:rPr lang="en-US" altLang="zh-CN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</a:t>
            </a:r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出</a:t>
            </a:r>
            <a:r>
              <a:rPr lang="en-US" altLang="zh-CN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</a:t>
            </a:r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回</a:t>
            </a:r>
            <a:r>
              <a:rPr lang="en-US" altLang="zh-CN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</a:t>
            </a:r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过</a:t>
            </a:r>
            <a:r>
              <a:rPr lang="en-US" altLang="zh-CN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</a:t>
            </a:r>
            <a:r>
              <a:rPr lang="zh-CN" altLang="en-US" sz="4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起</a:t>
            </a:r>
            <a:endParaRPr lang="en-GB" sz="4400" b="1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8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42875-DEB8-1B39-F1E5-DC62C8A6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779E4-597E-8F27-6750-5258E0D3C0E7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AB0FA1-AE4A-5163-B016-CD160BE93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31877"/>
              </p:ext>
            </p:extLst>
          </p:nvPr>
        </p:nvGraphicFramePr>
        <p:xfrm>
          <a:off x="838200" y="695960"/>
          <a:ext cx="10515600" cy="46329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648938097"/>
                    </a:ext>
                  </a:extLst>
                </a:gridCol>
                <a:gridCol w="2854960">
                  <a:extLst>
                    <a:ext uri="{9D8B030D-6E8A-4147-A177-3AD203B41FA5}">
                      <a16:colId xmlns:a16="http://schemas.microsoft.com/office/drawing/2014/main" val="1278321549"/>
                    </a:ext>
                  </a:extLst>
                </a:gridCol>
                <a:gridCol w="2915920">
                  <a:extLst>
                    <a:ext uri="{9D8B030D-6E8A-4147-A177-3AD203B41FA5}">
                      <a16:colId xmlns:a16="http://schemas.microsoft.com/office/drawing/2014/main" val="1069140963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899593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+ </a:t>
                      </a:r>
                      <a:r>
                        <a:rPr lang="zh-CN" altLang="en-US" sz="3200" b="1">
                          <a:solidFill>
                            <a:srgbClr val="C00000"/>
                          </a:solidFill>
                          <a:effectLst/>
                          <a:latin typeface="Bahnschrift Light Condensed" panose="020B0502040204020203" pitchFamily="34" charset="0"/>
                        </a:rPr>
                        <a:t>来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lại gần)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+ </a:t>
                      </a:r>
                      <a:r>
                        <a:rPr lang="zh-CN" altLang="en-US" sz="3200" b="1">
                          <a:solidFill>
                            <a:srgbClr val="C00000"/>
                          </a:solidFill>
                          <a:effectLst/>
                          <a:latin typeface="Bahnschrift Light Condensed" panose="020B0502040204020203" pitchFamily="34" charset="0"/>
                        </a:rPr>
                        <a:t>去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ra xa)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Ý nghĩa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705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上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Lên)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上来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lên đây)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上去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lên kia)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lên trên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945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下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Xuống)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下来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xuống đây)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下去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xuống kia)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xuống dưới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656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进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Vào)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进来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vào đây)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进去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vào kia)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vào 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17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出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Ra)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出来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ra đây)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出去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ra kia)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ra ngoài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877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回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Về)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回来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về đây)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回去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về kia)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trở lại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28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过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Qua)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过来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qua đây)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过去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qua kia)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qua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3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1">
                          <a:effectLst/>
                          <a:latin typeface="Bahnschrift Light Condensed" panose="020B0502040204020203" pitchFamily="34" charset="0"/>
                        </a:rPr>
                        <a:t>起</a:t>
                      </a: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Dậy)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3200" b="0">
                          <a:effectLst/>
                          <a:latin typeface="Bahnschrift Light Condensed" panose="020B0502040204020203" pitchFamily="34" charset="0"/>
                        </a:rPr>
                        <a:t>起来 </a:t>
                      </a:r>
                      <a:r>
                        <a:rPr lang="en-US" altLang="zh-CN" sz="3200" b="0">
                          <a:effectLst/>
                          <a:latin typeface="Bahnschrift Light Condensed" panose="020B0502040204020203" pitchFamily="34" charset="0"/>
                        </a:rPr>
                        <a:t>(</a:t>
                      </a:r>
                      <a:r>
                        <a:rPr lang="en-GB" sz="3200" b="0">
                          <a:effectLst/>
                          <a:latin typeface="Bahnschrift Light Condensed" panose="020B0502040204020203" pitchFamily="34" charset="0"/>
                        </a:rPr>
                        <a:t>dậy/lên)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3200" b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Bahnschrift Light Condensed" panose="020B0502040204020203" pitchFamily="34" charset="0"/>
                        </a:rPr>
                        <a:t>(không có </a:t>
                      </a:r>
                      <a:r>
                        <a:rPr lang="zh-CN" altLang="en-US" sz="3200" b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Bahnschrift Light Condensed" panose="020B0502040204020203" pitchFamily="34" charset="0"/>
                        </a:rPr>
                        <a:t>起去</a:t>
                      </a:r>
                      <a:r>
                        <a:rPr lang="en-US" altLang="zh-CN" sz="3200" b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Bahnschrift Light Condensed" panose="020B0502040204020203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3200" b="0">
                          <a:effectLst/>
                          <a:latin typeface="Bahnschrift Light Condensed" panose="020B0502040204020203" pitchFamily="34" charset="0"/>
                        </a:rPr>
                        <a:t>Hướng từ dưới lên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27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09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A569-8B95-B0EE-225D-4AE47F5E9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7AF495-D9CA-9EFF-E331-300A048C109D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ibbon: Tilted Up 3">
            <a:extLst>
              <a:ext uri="{FF2B5EF4-FFF2-40B4-BE49-F238E27FC236}">
                <a16:creationId xmlns:a16="http://schemas.microsoft.com/office/drawing/2014/main" id="{5706B917-2F7A-23C8-2BDE-918992559AF4}"/>
              </a:ext>
            </a:extLst>
          </p:cNvPr>
          <p:cNvSpPr/>
          <p:nvPr/>
        </p:nvSpPr>
        <p:spPr>
          <a:xfrm>
            <a:off x="335280" y="325120"/>
            <a:ext cx="1493520" cy="792480"/>
          </a:xfrm>
          <a:prstGeom prst="ribbon2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182DB-7E2C-ED7D-0258-19983139CFDF}"/>
              </a:ext>
            </a:extLst>
          </p:cNvPr>
          <p:cNvSpPr txBox="1"/>
          <p:nvPr/>
        </p:nvSpPr>
        <p:spPr>
          <a:xfrm>
            <a:off x="1828800" y="348159"/>
            <a:ext cx="3992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latin typeface="Bahnschrift Light Condensed" panose="020B0502040204020203" pitchFamily="34" charset="0"/>
              </a:rPr>
              <a:t>VỊ TRÍ CỦA TÂN NGỮ</a:t>
            </a:r>
            <a:endParaRPr lang="en-GB" sz="4800"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BD084-A1D3-1816-47AA-60E45E1DB539}"/>
              </a:ext>
            </a:extLst>
          </p:cNvPr>
          <p:cNvSpPr txBox="1"/>
          <p:nvPr/>
        </p:nvSpPr>
        <p:spPr>
          <a:xfrm>
            <a:off x="1828800" y="1379974"/>
            <a:ext cx="399288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>
                <a:latin typeface="Bahnschrift Light Condensed" panose="020B0502040204020203" pitchFamily="34" charset="0"/>
              </a:rPr>
              <a:t>A. Nếu Tân ngữ là ĐỊA ĐIỂM: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AD5FB9-DD27-2386-C60B-78C7747E254B}"/>
              </a:ext>
            </a:extLst>
          </p:cNvPr>
          <p:cNvSpPr txBox="1"/>
          <p:nvPr/>
        </p:nvSpPr>
        <p:spPr>
          <a:xfrm>
            <a:off x="1739900" y="2040374"/>
            <a:ext cx="4457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Tân ngữ bắt buộc phải đứng trước 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来</a:t>
            </a:r>
            <a:r>
              <a:rPr lang="en-US" altLang="zh-CN" sz="2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去</a:t>
            </a:r>
            <a:endParaRPr lang="en-GB" sz="24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B5184-CD0E-03B1-0328-0752FA0C983D}"/>
              </a:ext>
            </a:extLst>
          </p:cNvPr>
          <p:cNvSpPr txBox="1"/>
          <p:nvPr/>
        </p:nvSpPr>
        <p:spPr>
          <a:xfrm>
            <a:off x="3045460" y="3009314"/>
            <a:ext cx="6101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>
                <a:latin typeface="Bahnschrift Light Condensed" panose="020B0502040204020203" pitchFamily="34" charset="0"/>
              </a:rPr>
              <a:t>Động từ + </a:t>
            </a:r>
            <a:r>
              <a:rPr lang="en-GB" sz="4800">
                <a:solidFill>
                  <a:srgbClr val="C00000"/>
                </a:solidFill>
                <a:latin typeface="Bahnschrift Light Condensed" panose="020B0502040204020203" pitchFamily="34" charset="0"/>
              </a:rPr>
              <a:t>Địa điểm </a:t>
            </a:r>
            <a:r>
              <a:rPr lang="en-GB" sz="4800">
                <a:latin typeface="Bahnschrift Light Condensed" panose="020B0502040204020203" pitchFamily="34" charset="0"/>
              </a:rPr>
              <a:t>+ </a:t>
            </a:r>
            <a:r>
              <a:rPr lang="zh-CN" altLang="en-US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去</a:t>
            </a:r>
            <a:endParaRPr lang="en-GB" sz="4800" b="1">
              <a:solidFill>
                <a:schemeClr val="accent1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21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4B4421-3000-4C7F-E218-7B0731CE111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196D1-36CE-E631-A9D3-D0D87013F063}"/>
              </a:ext>
            </a:extLst>
          </p:cNvPr>
          <p:cNvSpPr txBox="1"/>
          <p:nvPr/>
        </p:nvSpPr>
        <p:spPr>
          <a:xfrm>
            <a:off x="142240" y="203200"/>
            <a:ext cx="2184400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Bahnschrift Light Condensed" panose="020B0502040204020203" pitchFamily="34" charset="0"/>
              </a:rPr>
              <a:t>Luyện tập</a:t>
            </a:r>
            <a:endParaRPr lang="en-GB" sz="480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4D16E-2C38-E9E0-3CF8-FFC7207F5AE6}"/>
              </a:ext>
            </a:extLst>
          </p:cNvPr>
          <p:cNvSpPr txBox="1"/>
          <p:nvPr/>
        </p:nvSpPr>
        <p:spPr>
          <a:xfrm>
            <a:off x="3012440" y="1186597"/>
            <a:ext cx="616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>
                <a:solidFill>
                  <a:srgbClr val="1F1F1F"/>
                </a:solidFill>
                <a:latin typeface="Bahnschrift Light Condensed" panose="020B0502040204020203" pitchFamily="34" charset="0"/>
              </a:rPr>
              <a:t>Chủ</a:t>
            </a:r>
            <a:r>
              <a:rPr lang="en-GB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 ngữ + Động từ + </a:t>
            </a:r>
            <a:r>
              <a:rPr lang="en-GB" sz="3600" b="0" i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Địa điểm </a:t>
            </a:r>
            <a:r>
              <a:rPr lang="en-GB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+ </a:t>
            </a:r>
            <a:r>
              <a:rPr lang="zh-CN" altLang="en-US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来 </a:t>
            </a:r>
            <a:r>
              <a:rPr lang="en-US" altLang="zh-CN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 </a:t>
            </a:r>
            <a:r>
              <a:rPr lang="zh-CN" altLang="en-US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去</a:t>
            </a:r>
            <a:endParaRPr lang="en-GB"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8A771-D69F-E8C4-1EF3-11ABE5EB4F11}"/>
              </a:ext>
            </a:extLst>
          </p:cNvPr>
          <p:cNvSpPr txBox="1"/>
          <p:nvPr/>
        </p:nvSpPr>
        <p:spPr>
          <a:xfrm>
            <a:off x="2326640" y="173316"/>
            <a:ext cx="5953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Dịch </a:t>
            </a:r>
            <a:r>
              <a:rPr lang="vi-VN" sz="44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Việt - Trung </a:t>
            </a:r>
            <a:r>
              <a:rPr lang="en-US" sz="4400">
                <a:solidFill>
                  <a:srgbClr val="1F1F1F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b="0" i="0">
                <a:solidFill>
                  <a:schemeClr val="accent4">
                    <a:lumMod val="50000"/>
                  </a:schemeClr>
                </a:solidFill>
                <a:effectLst/>
                <a:latin typeface="Bahnschrift Light Condensed" panose="020B0502040204020203" pitchFamily="34" charset="0"/>
              </a:rPr>
              <a:t>gợi ý về hướng của người nói</a:t>
            </a:r>
            <a:r>
              <a:rPr lang="en-US" b="0" i="0">
                <a:solidFill>
                  <a:schemeClr val="accent4">
                    <a:lumMod val="50000"/>
                  </a:schemeClr>
                </a:solidFill>
                <a:effectLst/>
                <a:latin typeface="Bahnschrift Light Condensed" panose="020B0502040204020203" pitchFamily="34" charset="0"/>
              </a:rPr>
              <a:t>)</a:t>
            </a:r>
            <a:endParaRPr lang="en-GB" sz="36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2ED59-3431-6542-05C5-0B9B971E0505}"/>
              </a:ext>
            </a:extLst>
          </p:cNvPr>
          <p:cNvSpPr txBox="1"/>
          <p:nvPr/>
        </p:nvSpPr>
        <p:spPr>
          <a:xfrm>
            <a:off x="1234440" y="2076768"/>
            <a:ext cx="7045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Anh ấy vào phòng rồi</a:t>
            </a:r>
            <a:r>
              <a:rPr lang="en-US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.</a:t>
            </a:r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trong phòng)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634CC-B9D8-DB9E-81E8-8FA0926896F7}"/>
              </a:ext>
            </a:extLst>
          </p:cNvPr>
          <p:cNvSpPr txBox="1"/>
          <p:nvPr/>
        </p:nvSpPr>
        <p:spPr>
          <a:xfrm>
            <a:off x="1234440" y="3813721"/>
            <a:ext cx="7279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Cuối tuần tôi về nhà</a:t>
            </a:r>
            <a:r>
              <a:rPr lang="en-US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.</a:t>
            </a:r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trường/công ty)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E2034-8A77-1637-E7F6-9F478942FC12}"/>
              </a:ext>
            </a:extLst>
          </p:cNvPr>
          <p:cNvSpPr txBox="1"/>
          <p:nvPr/>
        </p:nvSpPr>
        <p:spPr>
          <a:xfrm>
            <a:off x="1422400" y="2784654"/>
            <a:ext cx="460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他进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房间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2A1EC-4895-2340-C5BE-339027787E8B}"/>
              </a:ext>
            </a:extLst>
          </p:cNvPr>
          <p:cNvSpPr txBox="1"/>
          <p:nvPr/>
        </p:nvSpPr>
        <p:spPr>
          <a:xfrm>
            <a:off x="1351280" y="4644718"/>
            <a:ext cx="460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周末我回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家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去。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506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18586F-9E25-6188-6118-9821BE4BAABF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39141-8710-B8B8-9355-DBA1BBE5B00A}"/>
              </a:ext>
            </a:extLst>
          </p:cNvPr>
          <p:cNvSpPr txBox="1"/>
          <p:nvPr/>
        </p:nvSpPr>
        <p:spPr>
          <a:xfrm>
            <a:off x="1457960" y="1233488"/>
            <a:ext cx="7757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Bao giờ bạn về Việt Nam?</a:t>
            </a:r>
            <a:r>
              <a:rPr lang="en-US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VIỆT NAM)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D9850-1B0E-35CB-B489-C1D01D3AB35F}"/>
              </a:ext>
            </a:extLst>
          </p:cNvPr>
          <p:cNvSpPr txBox="1"/>
          <p:nvPr/>
        </p:nvSpPr>
        <p:spPr>
          <a:xfrm>
            <a:off x="1457960" y="3160058"/>
            <a:ext cx="5918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Bạn đi lên lầu đi</a:t>
            </a:r>
            <a:r>
              <a:rPr lang="en-US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!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TRÊN lầu)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7387A-D469-D069-5AD4-6560E0CF7B01}"/>
              </a:ext>
            </a:extLst>
          </p:cNvPr>
          <p:cNvSpPr txBox="1"/>
          <p:nvPr/>
        </p:nvSpPr>
        <p:spPr>
          <a:xfrm>
            <a:off x="1457960" y="2012106"/>
            <a:ext cx="6365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你什么时候回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越南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来？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6E75C-B640-4AE4-0695-BFA08A0112BA}"/>
              </a:ext>
            </a:extLst>
          </p:cNvPr>
          <p:cNvSpPr txBox="1"/>
          <p:nvPr/>
        </p:nvSpPr>
        <p:spPr>
          <a:xfrm>
            <a:off x="1457960" y="3938676"/>
            <a:ext cx="351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你上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楼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来吧。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18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059B-E92B-EA0E-CBC3-FE7DE042A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470C30-E941-77E8-B072-62C46417A4B1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1DA04-8ECD-BBEE-F233-3556977BB7FD}"/>
              </a:ext>
            </a:extLst>
          </p:cNvPr>
          <p:cNvSpPr txBox="1"/>
          <p:nvPr/>
        </p:nvSpPr>
        <p:spPr>
          <a:xfrm>
            <a:off x="314960" y="591235"/>
            <a:ext cx="1156208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vi-V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Động từ chính + 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进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出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上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下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回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过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+ </a:t>
            </a:r>
            <a:r>
              <a:rPr lang="en-US" altLang="zh-CN" sz="3600" i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TÂN NGỮ ĐỊA ĐIỂM 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+ 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来 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 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去</a:t>
            </a:r>
            <a:endParaRPr lang="en-GB" sz="3600" b="1"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D2BD8-FD91-F920-E03B-81832FC3F713}"/>
              </a:ext>
            </a:extLst>
          </p:cNvPr>
          <p:cNvSpPr txBox="1"/>
          <p:nvPr/>
        </p:nvSpPr>
        <p:spPr>
          <a:xfrm>
            <a:off x="1353820" y="1522214"/>
            <a:ext cx="4935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>
                <a:latin typeface="Bahnschrift Light Condensed" panose="020B0502040204020203" pitchFamily="34" charset="0"/>
              </a:rPr>
              <a:t>Thầy giáo </a:t>
            </a:r>
            <a:r>
              <a:rPr lang="en-GB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đi</a:t>
            </a:r>
            <a:r>
              <a:rPr lang="en-GB" sz="4400">
                <a:latin typeface="Bahnschrift Light Condensed" panose="020B0502040204020203" pitchFamily="34" charset="0"/>
              </a:rPr>
              <a:t> vào lớp rồi.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ngồi trong lớp.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4A1E48-662D-4E02-02CA-E295F9554765}"/>
              </a:ext>
            </a:extLst>
          </p:cNvPr>
          <p:cNvSpPr txBox="1"/>
          <p:nvPr/>
        </p:nvSpPr>
        <p:spPr>
          <a:xfrm>
            <a:off x="1353820" y="3862200"/>
            <a:ext cx="6733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>
                <a:latin typeface="Bahnschrift Light Condensed" panose="020B0502040204020203" pitchFamily="34" charset="0"/>
              </a:rPr>
              <a:t>Anh ấy </a:t>
            </a:r>
            <a:r>
              <a:rPr lang="en-GB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chạy </a:t>
            </a:r>
            <a:r>
              <a:rPr lang="en-GB" sz="4400">
                <a:latin typeface="Bahnschrift Light Condensed" panose="020B0502040204020203" pitchFamily="34" charset="0"/>
              </a:rPr>
              <a:t>ra khỏi văn phòng rồi.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ở trong văn phòng, nhìn anh ấy chạy ra ngoài.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4F52A-BD50-C253-7903-9FB291F03586}"/>
              </a:ext>
            </a:extLst>
          </p:cNvPr>
          <p:cNvSpPr txBox="1"/>
          <p:nvPr/>
        </p:nvSpPr>
        <p:spPr>
          <a:xfrm>
            <a:off x="0" y="5979180"/>
            <a:ext cx="7617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起</a:t>
            </a:r>
            <a:r>
              <a:rPr lang="zh-CN" altLang="en-US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thường không mang tân ngữ địa điểm theo cấu trúc này</a:t>
            </a:r>
            <a:endParaRPr lang="en-GB" sz="28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92CC33-3360-D219-B060-9B95058E47A5}"/>
              </a:ext>
            </a:extLst>
          </p:cNvPr>
          <p:cNvSpPr txBox="1"/>
          <p:nvPr/>
        </p:nvSpPr>
        <p:spPr>
          <a:xfrm>
            <a:off x="1252220" y="2703814"/>
            <a:ext cx="5483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老师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走进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教室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76343-142B-65D6-2C72-221EF0B0DB71}"/>
              </a:ext>
            </a:extLst>
          </p:cNvPr>
          <p:cNvSpPr txBox="1"/>
          <p:nvPr/>
        </p:nvSpPr>
        <p:spPr>
          <a:xfrm>
            <a:off x="1252220" y="4939418"/>
            <a:ext cx="491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他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跑出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办公室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去。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342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E34F-F857-0A5C-1864-CC3A2905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E171DF-4425-5B22-1A2C-720AB78368D8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468C6-9560-7860-4C33-A2346DE0902A}"/>
              </a:ext>
            </a:extLst>
          </p:cNvPr>
          <p:cNvSpPr txBox="1"/>
          <p:nvPr/>
        </p:nvSpPr>
        <p:spPr>
          <a:xfrm>
            <a:off x="1353820" y="1522214"/>
            <a:ext cx="5382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>
                <a:latin typeface="Bahnschrift Light Condensed" panose="020B0502040204020203" pitchFamily="34" charset="0"/>
              </a:rPr>
              <a:t>Bố </a:t>
            </a:r>
            <a:r>
              <a:rPr lang="en-GB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leo</a:t>
            </a:r>
            <a:r>
              <a:rPr lang="en-GB" sz="4400">
                <a:latin typeface="Bahnschrift Light Condensed" panose="020B0502040204020203" pitchFamily="34" charset="0"/>
              </a:rPr>
              <a:t> lên núi rồi.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ở dưới chân núi, nhìn bố leo lên xa dần..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51491-DA03-8CC9-DF9D-5BB7A05C24DE}"/>
              </a:ext>
            </a:extLst>
          </p:cNvPr>
          <p:cNvSpPr txBox="1"/>
          <p:nvPr/>
        </p:nvSpPr>
        <p:spPr>
          <a:xfrm>
            <a:off x="1353820" y="3862200"/>
            <a:ext cx="6733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>
                <a:latin typeface="Bahnschrift Light Condensed" panose="020B0502040204020203" pitchFamily="34" charset="0"/>
              </a:rPr>
              <a:t>Con mèo con </a:t>
            </a:r>
            <a:r>
              <a:rPr lang="en-GB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nhảy</a:t>
            </a:r>
            <a:r>
              <a:rPr lang="en-GB" sz="4400">
                <a:latin typeface="Bahnschrift Light Condensed" panose="020B0502040204020203" pitchFamily="34" charset="0"/>
              </a:rPr>
              <a:t> xuống bàn rồi.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ở dưới đất/sàn nhà (vị trí thấp hơn cái bàn).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6BD75-804C-6AE4-0C26-9C4D7CB097E2}"/>
              </a:ext>
            </a:extLst>
          </p:cNvPr>
          <p:cNvSpPr txBox="1"/>
          <p:nvPr/>
        </p:nvSpPr>
        <p:spPr>
          <a:xfrm>
            <a:off x="1252220" y="2703814"/>
            <a:ext cx="4955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爸爸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爬上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山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去了。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68D3F-DD19-0EF1-F00C-28AB8CBCFA4C}"/>
              </a:ext>
            </a:extLst>
          </p:cNvPr>
          <p:cNvSpPr txBox="1"/>
          <p:nvPr/>
        </p:nvSpPr>
        <p:spPr>
          <a:xfrm>
            <a:off x="1252220" y="4920287"/>
            <a:ext cx="4955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小猫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跳下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桌子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6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490C-2F31-297B-2B41-7AB516EDD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93161A-5D27-CD24-AA88-BD89C7180D0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C84BF-4A3D-DA57-C317-3E05E05BA41C}"/>
              </a:ext>
            </a:extLst>
          </p:cNvPr>
          <p:cNvSpPr txBox="1"/>
          <p:nvPr/>
        </p:nvSpPr>
        <p:spPr>
          <a:xfrm>
            <a:off x="1353820" y="1522214"/>
            <a:ext cx="64897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>
                <a:latin typeface="Bahnschrift Light Condensed" panose="020B0502040204020203" pitchFamily="34" charset="0"/>
              </a:rPr>
              <a:t>Anh ấy </a:t>
            </a:r>
            <a:r>
              <a:rPr lang="vi-VN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đi</a:t>
            </a:r>
            <a:r>
              <a:rPr lang="vi-VN" sz="4400">
                <a:latin typeface="Bahnschrift Light Condensed" panose="020B0502040204020203" pitchFamily="34" charset="0"/>
              </a:rPr>
              <a:t> bộ qua đường rồi</a:t>
            </a:r>
            <a:r>
              <a:rPr lang="en-GB" sz="4400">
                <a:latin typeface="Bahnschrift Light Condensed" panose="020B0502040204020203" pitchFamily="34" charset="0"/>
              </a:rPr>
              <a:t>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đứng ở trong nhà đợi anh trai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, con đường ở trước nhà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21585-0C51-5091-E2BB-821CC364B615}"/>
              </a:ext>
            </a:extLst>
          </p:cNvPr>
          <p:cNvSpPr txBox="1"/>
          <p:nvPr/>
        </p:nvSpPr>
        <p:spPr>
          <a:xfrm>
            <a:off x="1353820" y="3862200"/>
            <a:ext cx="6733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>
                <a:latin typeface="Bahnschrift Light Condensed" panose="020B0502040204020203" pitchFamily="34" charset="0"/>
              </a:rPr>
              <a:t>Lũ trẻ </a:t>
            </a:r>
            <a:r>
              <a:rPr lang="vi-VN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chạy</a:t>
            </a:r>
            <a:r>
              <a:rPr lang="vi-VN" sz="4400">
                <a:latin typeface="Bahnschrift Light Condensed" panose="020B0502040204020203" pitchFamily="34" charset="0"/>
              </a:rPr>
              <a:t> vào trong công viên rồi</a:t>
            </a:r>
            <a:r>
              <a:rPr lang="en-GB" sz="4400">
                <a:latin typeface="Bahnschrift Light Condensed" panose="020B0502040204020203" pitchFamily="34" charset="0"/>
              </a:rPr>
              <a:t>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đứng ở ngoài cổng công viên.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CF2504-3D85-59F0-86B0-20C5F7E9268E}"/>
              </a:ext>
            </a:extLst>
          </p:cNvPr>
          <p:cNvSpPr txBox="1"/>
          <p:nvPr/>
        </p:nvSpPr>
        <p:spPr>
          <a:xfrm>
            <a:off x="1262380" y="2643915"/>
            <a:ext cx="4955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他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走过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路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29773-D882-DBFB-EBC6-5713A6D8C9FF}"/>
              </a:ext>
            </a:extLst>
          </p:cNvPr>
          <p:cNvSpPr txBox="1"/>
          <p:nvPr/>
        </p:nvSpPr>
        <p:spPr>
          <a:xfrm>
            <a:off x="1262380" y="5037894"/>
            <a:ext cx="6174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孩子们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跑进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公园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去了。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111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7E83-61E8-970F-8844-53E90417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B3AF25-71FE-7B56-9E7B-1471ACD20899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9F32F-2C67-30EA-4841-E2796DEAFEA6}"/>
              </a:ext>
            </a:extLst>
          </p:cNvPr>
          <p:cNvSpPr txBox="1"/>
          <p:nvPr/>
        </p:nvSpPr>
        <p:spPr>
          <a:xfrm>
            <a:off x="1353820" y="1522214"/>
            <a:ext cx="76073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>
                <a:latin typeface="Bahnschrift Light Condensed" panose="020B0502040204020203" pitchFamily="34" charset="0"/>
              </a:rPr>
              <a:t>Bạn tôi </a:t>
            </a:r>
            <a:r>
              <a:rPr lang="vi-VN" sz="4400" b="1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lái</a:t>
            </a:r>
            <a:r>
              <a:rPr lang="vi-VN" sz="4400">
                <a:latin typeface="Bahnschrift Light Condensed" panose="020B0502040204020203" pitchFamily="34" charset="0"/>
              </a:rPr>
              <a:t> </a:t>
            </a:r>
            <a:r>
              <a:rPr lang="en-GB">
                <a:latin typeface="Bahnschrift Light Condensed" panose="020B0502040204020203" pitchFamily="34" charset="0"/>
              </a:rPr>
              <a:t>(</a:t>
            </a:r>
            <a:r>
              <a:rPr lang="vi-VN">
                <a:latin typeface="Bahnschrift Light Condensed" panose="020B0502040204020203" pitchFamily="34" charset="0"/>
              </a:rPr>
              <a:t>xe</a:t>
            </a:r>
            <a:r>
              <a:rPr lang="en-US">
                <a:latin typeface="Bahnschrift Light Condensed" panose="020B0502040204020203" pitchFamily="34" charset="0"/>
              </a:rPr>
              <a:t> ô tô</a:t>
            </a:r>
            <a:r>
              <a:rPr lang="en-GB">
                <a:latin typeface="Bahnschrift Light Condensed" panose="020B0502040204020203" pitchFamily="34" charset="0"/>
              </a:rPr>
              <a:t>)</a:t>
            </a:r>
            <a:r>
              <a:rPr lang="vi-VN">
                <a:latin typeface="Bahnschrift Light Condensed" panose="020B0502040204020203" pitchFamily="34" charset="0"/>
              </a:rPr>
              <a:t> </a:t>
            </a:r>
            <a:r>
              <a:rPr lang="vi-VN" sz="4400">
                <a:latin typeface="Bahnschrift Light Condensed" panose="020B0502040204020203" pitchFamily="34" charset="0"/>
              </a:rPr>
              <a:t>qua cầu rồi.</a:t>
            </a:r>
            <a:endParaRPr lang="en-US" sz="4400">
              <a:latin typeface="Bahnschrift Light Condensed" panose="020B0502040204020203" pitchFamily="34" charset="0"/>
            </a:endParaRP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đứng ở phía bên này cầu, thấy bạn đang lái xe từ bên kia lại gần mình.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12115A-81B0-43A5-208F-F55BD93B5237}"/>
              </a:ext>
            </a:extLst>
          </p:cNvPr>
          <p:cNvSpPr txBox="1"/>
          <p:nvPr/>
        </p:nvSpPr>
        <p:spPr>
          <a:xfrm>
            <a:off x="1353820" y="3862200"/>
            <a:ext cx="82169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>
                <a:latin typeface="Bahnschrift Light Condensed" panose="020B0502040204020203" pitchFamily="34" charset="0"/>
              </a:rPr>
              <a:t>Chúng tôi chạy </a:t>
            </a:r>
            <a:r>
              <a:rPr lang="en-US" sz="2000">
                <a:latin typeface="Bahnschrift Light Condensed" panose="020B0502040204020203" pitchFamily="34" charset="0"/>
              </a:rPr>
              <a:t>(xe máy) </a:t>
            </a:r>
            <a:r>
              <a:rPr lang="en-US" sz="4400">
                <a:latin typeface="Bahnschrift Light Condensed" panose="020B0502040204020203" pitchFamily="34" charset="0"/>
              </a:rPr>
              <a:t>qua công ty rồi</a:t>
            </a:r>
            <a:r>
              <a:rPr lang="en-GB" sz="4400">
                <a:latin typeface="Bahnschrift Light Condensed" panose="020B0502040204020203" pitchFamily="34" charset="0"/>
              </a:rPr>
              <a:t>.</a:t>
            </a:r>
          </a:p>
          <a:p>
            <a:r>
              <a:rPr lang="en-GB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Người nói đang đứng ở 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 ngoài công ty</a:t>
            </a:r>
            <a:r>
              <a:rPr lang="vi-VN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.</a:t>
            </a:r>
            <a:r>
              <a:rPr lang="en-US" sz="20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)</a:t>
            </a:r>
            <a:endParaRPr lang="en-GB" sz="2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73396-83E2-C221-A43D-CD94BE170FD7}"/>
              </a:ext>
            </a:extLst>
          </p:cNvPr>
          <p:cNvSpPr txBox="1"/>
          <p:nvPr/>
        </p:nvSpPr>
        <p:spPr>
          <a:xfrm>
            <a:off x="1262380" y="2643915"/>
            <a:ext cx="5544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我朋友</a:t>
            </a:r>
            <a:r>
              <a:rPr lang="zh-CN" altLang="en-US" sz="4800" b="1" u="sng">
                <a:latin typeface="SimSun" panose="02010600030101010101" pitchFamily="2" charset="-122"/>
                <a:ea typeface="SimSun" panose="02010600030101010101" pitchFamily="2" charset="-122"/>
              </a:rPr>
              <a:t>开过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桥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CDE52-2AB2-141F-D491-03B6B627B80B}"/>
              </a:ext>
            </a:extLst>
          </p:cNvPr>
          <p:cNvSpPr txBox="1"/>
          <p:nvPr/>
        </p:nvSpPr>
        <p:spPr>
          <a:xfrm>
            <a:off x="1262380" y="4939418"/>
            <a:ext cx="5544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我们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骑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过公司去了。</a:t>
            </a:r>
            <a:endParaRPr lang="en-GB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391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FB5019-AD79-22F0-D3EB-C80BB603729A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68670388-7321-E1C6-B2C7-72D25536B875}"/>
              </a:ext>
            </a:extLst>
          </p:cNvPr>
          <p:cNvSpPr/>
          <p:nvPr/>
        </p:nvSpPr>
        <p:spPr>
          <a:xfrm>
            <a:off x="91440" y="0"/>
            <a:ext cx="1249680" cy="975360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9FB61-C200-E9CD-F013-63F8D90FF5AE}"/>
              </a:ext>
            </a:extLst>
          </p:cNvPr>
          <p:cNvSpPr txBox="1"/>
          <p:nvPr/>
        </p:nvSpPr>
        <p:spPr>
          <a:xfrm>
            <a:off x="1211580" y="975360"/>
            <a:ext cx="2750820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LƯU Ý ĐẶC BIỆT</a:t>
            </a:r>
            <a:endParaRPr lang="en-GB" sz="4000">
              <a:latin typeface="Bahnschrift Light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2CC65-E32E-6F25-399F-E439A7D0251C}"/>
              </a:ext>
            </a:extLst>
          </p:cNvPr>
          <p:cNvSpPr txBox="1"/>
          <p:nvPr/>
        </p:nvSpPr>
        <p:spPr>
          <a:xfrm>
            <a:off x="386080" y="1855877"/>
            <a:ext cx="118059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latin typeface="Bahnschrift Light Condensed" panose="020B0502040204020203" pitchFamily="34" charset="0"/>
              </a:rPr>
              <a:t>Từ "</a:t>
            </a:r>
            <a:r>
              <a:rPr lang="zh-CN" altLang="en-US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起</a:t>
            </a:r>
            <a:r>
              <a:rPr lang="en-US" altLang="zh-CN" sz="3200">
                <a:latin typeface="Bahnschrift Light Condensed" panose="020B0502040204020203" pitchFamily="34" charset="0"/>
              </a:rPr>
              <a:t>" (</a:t>
            </a:r>
            <a:r>
              <a:rPr lang="vi-VN" sz="3200">
                <a:latin typeface="Bahnschrift Light Condensed" panose="020B0502040204020203" pitchFamily="34" charset="0"/>
              </a:rPr>
              <a:t>dậy/lên): Không bao giờ đi với "</a:t>
            </a:r>
            <a:r>
              <a:rPr lang="zh-CN" altLang="en-US" sz="3200">
                <a:latin typeface="Bahnschrift Light Condensed" panose="020B0502040204020203" pitchFamily="34" charset="0"/>
              </a:rPr>
              <a:t>去</a:t>
            </a:r>
            <a:r>
              <a:rPr lang="en-US" altLang="zh-CN" sz="3200">
                <a:latin typeface="Bahnschrift Light Condensed" panose="020B0502040204020203" pitchFamily="34" charset="0"/>
              </a:rPr>
              <a:t>", </a:t>
            </a:r>
            <a:r>
              <a:rPr lang="vi-VN" sz="3200">
                <a:latin typeface="Bahnschrift Light Condensed" panose="020B0502040204020203" pitchFamily="34" charset="0"/>
              </a:rPr>
              <a:t>chỉ có </a:t>
            </a:r>
            <a:r>
              <a:rPr lang="zh-CN" altLang="en-US" sz="3200">
                <a:latin typeface="Bahnschrift Light Condensed" panose="020B0502040204020203" pitchFamily="34" charset="0"/>
              </a:rPr>
              <a:t>起来</a:t>
            </a:r>
            <a:r>
              <a:rPr lang="en-US" altLang="zh-CN" sz="3200">
                <a:latin typeface="Bahnschrift Light Condensed" panose="020B0502040204020203" pitchFamily="34" charset="0"/>
              </a:rPr>
              <a:t>. </a:t>
            </a:r>
          </a:p>
          <a:p>
            <a:r>
              <a:rPr lang="vi-VN" sz="3200">
                <a:latin typeface="Bahnschrift Light Condensed" panose="020B0502040204020203" pitchFamily="34" charset="0"/>
              </a:rPr>
              <a:t>Và </a:t>
            </a:r>
            <a:r>
              <a:rPr lang="zh-CN" altLang="en-US" sz="3200">
                <a:latin typeface="Bahnschrift Light Condensed" panose="020B0502040204020203" pitchFamily="34" charset="0"/>
              </a:rPr>
              <a:t>起 </a:t>
            </a:r>
            <a:r>
              <a:rPr lang="vi-VN" sz="3200">
                <a:latin typeface="Bahnschrift Light Condensed" panose="020B0502040204020203" pitchFamily="34" charset="0"/>
              </a:rPr>
              <a:t>thường không mang tân ngữ địa điểm theo cấu trúc này </a:t>
            </a:r>
            <a:r>
              <a:rPr lang="vi-VN" sz="2000">
                <a:latin typeface="Bahnschrift Light Condensed" panose="020B0502040204020203" pitchFamily="34" charset="0"/>
              </a:rPr>
              <a:t>(thường là </a:t>
            </a:r>
            <a:r>
              <a:rPr lang="zh-CN" altLang="en-US" sz="2000">
                <a:latin typeface="Bahnschrift Light Condensed" panose="020B0502040204020203" pitchFamily="34" charset="0"/>
              </a:rPr>
              <a:t>站起来 </a:t>
            </a:r>
            <a:r>
              <a:rPr lang="en-US" altLang="zh-CN" sz="2000">
                <a:latin typeface="Bahnschrift Light Condensed" panose="020B0502040204020203" pitchFamily="34" charset="0"/>
              </a:rPr>
              <a:t>- </a:t>
            </a:r>
            <a:r>
              <a:rPr lang="vi-VN" sz="2000">
                <a:latin typeface="Bahnschrift Light Condensed" panose="020B0502040204020203" pitchFamily="34" charset="0"/>
              </a:rPr>
              <a:t>đứng dậy).</a:t>
            </a:r>
            <a:endParaRPr lang="en-US" sz="20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latin typeface="Bahnschrift Light Condensed" panose="020B0502040204020203" pitchFamily="34" charset="0"/>
              </a:rPr>
              <a:t>Trợ từ "</a:t>
            </a:r>
            <a:r>
              <a:rPr lang="zh-CN" altLang="en-US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了</a:t>
            </a:r>
            <a:r>
              <a:rPr lang="en-US" altLang="zh-CN" sz="3200">
                <a:latin typeface="Bahnschrift Light Condensed" panose="020B0502040204020203" pitchFamily="34" charset="0"/>
              </a:rPr>
              <a:t>": </a:t>
            </a:r>
            <a:r>
              <a:rPr lang="vi-VN" sz="2400">
                <a:latin typeface="Bahnschrift Light Condensed" panose="020B0502040204020203" pitchFamily="34" charset="0"/>
              </a:rPr>
              <a:t>Thường đứng ở cuối câu khi có tân ngữ địa điểm để biểu thị hành động đã hoàn thành.</a:t>
            </a:r>
            <a:endParaRPr lang="en-US" sz="24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latin typeface="Bahnschrift Light Condensed" panose="020B0502040204020203" pitchFamily="34" charset="0"/>
              </a:rPr>
              <a:t>Mẹo nhớ: </a:t>
            </a:r>
            <a:endParaRPr lang="en-US" sz="3200">
              <a:latin typeface="Bahnschrift Light Condensed" panose="020B0502040204020203" pitchFamily="34" charset="0"/>
            </a:endParaRPr>
          </a:p>
          <a:p>
            <a:r>
              <a:rPr lang="vi-VN" sz="3200">
                <a:latin typeface="Bahnschrift Light Condensed" panose="020B0502040204020203" pitchFamily="34" charset="0"/>
              </a:rPr>
              <a:t>Hãy coi </a:t>
            </a:r>
            <a:r>
              <a:rPr lang="vi-VN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[Động từ xu hướng + Địa điểm + </a:t>
            </a:r>
            <a:r>
              <a:rPr lang="zh-CN" altLang="en-US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来</a:t>
            </a:r>
            <a:r>
              <a:rPr lang="en-US" altLang="zh-CN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去</a:t>
            </a:r>
            <a:r>
              <a:rPr lang="en-US" altLang="zh-CN" sz="32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] </a:t>
            </a:r>
            <a:r>
              <a:rPr lang="vi-VN" sz="3200">
                <a:latin typeface="Bahnschrift Light Condensed" panose="020B0502040204020203" pitchFamily="34" charset="0"/>
              </a:rPr>
              <a:t>là một cụm không thể tách rời.</a:t>
            </a:r>
            <a:endParaRPr lang="en-GB" sz="320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2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0C24-9F90-C94C-E069-529D6C6E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57E54E-4A26-8C43-52D6-43BF5999F7F1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ibbon: Tilted Up 3">
            <a:extLst>
              <a:ext uri="{FF2B5EF4-FFF2-40B4-BE49-F238E27FC236}">
                <a16:creationId xmlns:a16="http://schemas.microsoft.com/office/drawing/2014/main" id="{1C09891E-795E-4E03-90C5-963815027EE6}"/>
              </a:ext>
            </a:extLst>
          </p:cNvPr>
          <p:cNvSpPr/>
          <p:nvPr/>
        </p:nvSpPr>
        <p:spPr>
          <a:xfrm>
            <a:off x="335280" y="325120"/>
            <a:ext cx="1493520" cy="792480"/>
          </a:xfrm>
          <a:prstGeom prst="ribbon2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2D785-AA44-113B-94FF-81623EF0622F}"/>
              </a:ext>
            </a:extLst>
          </p:cNvPr>
          <p:cNvSpPr txBox="1"/>
          <p:nvPr/>
        </p:nvSpPr>
        <p:spPr>
          <a:xfrm>
            <a:off x="1828800" y="348159"/>
            <a:ext cx="3992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latin typeface="Bahnschrift Light Condensed" panose="020B0502040204020203" pitchFamily="34" charset="0"/>
              </a:rPr>
              <a:t>VỊ TRÍ CỦA TÂN NGỮ</a:t>
            </a:r>
            <a:endParaRPr lang="en-GB" sz="4800"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2133C-DD5F-DFDF-A17A-934F95908A5D}"/>
              </a:ext>
            </a:extLst>
          </p:cNvPr>
          <p:cNvSpPr txBox="1"/>
          <p:nvPr/>
        </p:nvSpPr>
        <p:spPr>
          <a:xfrm>
            <a:off x="1828800" y="1379974"/>
            <a:ext cx="43688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>
                <a:latin typeface="Bahnschrift Light Condensed" panose="020B0502040204020203" pitchFamily="34" charset="0"/>
              </a:rPr>
              <a:t>B. Nếu Tân ngữ là VẬT/SỰ VẬT: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87FE0-3FD2-A456-890C-D1E142693002}"/>
              </a:ext>
            </a:extLst>
          </p:cNvPr>
          <p:cNvSpPr txBox="1"/>
          <p:nvPr/>
        </p:nvSpPr>
        <p:spPr>
          <a:xfrm>
            <a:off x="1739900" y="2040374"/>
            <a:ext cx="80340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Tân ngữ có thể đứng trước hoặc sau 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来</a:t>
            </a:r>
            <a:r>
              <a:rPr lang="en-US" altLang="zh-CN" sz="24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24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去 </a:t>
            </a:r>
            <a:r>
              <a:rPr lang="vi-VN" sz="24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đều được (thường đứng sau).</a:t>
            </a:r>
            <a:endParaRPr lang="en-GB" sz="24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FFF93-3D3F-7B28-5C77-FF95B4B8FFDD}"/>
              </a:ext>
            </a:extLst>
          </p:cNvPr>
          <p:cNvSpPr txBox="1"/>
          <p:nvPr/>
        </p:nvSpPr>
        <p:spPr>
          <a:xfrm>
            <a:off x="1739900" y="2639983"/>
            <a:ext cx="68656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>
                <a:latin typeface="Bahnschrift Light Condensed" panose="020B0502040204020203" pitchFamily="34" charset="0"/>
              </a:rPr>
              <a:t>Động từ + </a:t>
            </a:r>
            <a:r>
              <a:rPr lang="en-GB" sz="4800">
                <a:solidFill>
                  <a:srgbClr val="C00000"/>
                </a:solidFill>
                <a:latin typeface="Bahnschrift Light Condensed" panose="020B0502040204020203" pitchFamily="34" charset="0"/>
              </a:rPr>
              <a:t>VẬT/SỰ VẬT </a:t>
            </a:r>
            <a:r>
              <a:rPr lang="en-GB" sz="4800">
                <a:latin typeface="Bahnschrift Light Condensed" panose="020B0502040204020203" pitchFamily="34" charset="0"/>
              </a:rPr>
              <a:t>+ </a:t>
            </a:r>
            <a:r>
              <a:rPr lang="zh-CN" altLang="en-US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去</a:t>
            </a:r>
            <a:endParaRPr lang="en-US" altLang="zh-CN" sz="4800" b="1">
              <a:solidFill>
                <a:schemeClr val="accent1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  <a:p>
            <a:r>
              <a:rPr lang="en-GB" sz="4800">
                <a:latin typeface="Bahnschrift Light Condensed" panose="020B0502040204020203" pitchFamily="34" charset="0"/>
              </a:rPr>
              <a:t>Động từ +  </a:t>
            </a:r>
            <a:r>
              <a:rPr lang="zh-CN" altLang="en-US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去 </a:t>
            </a:r>
            <a:r>
              <a:rPr lang="en-US" altLang="zh-CN" sz="4800" b="1">
                <a:solidFill>
                  <a:schemeClr val="accent1">
                    <a:lumMod val="50000"/>
                  </a:schemeClr>
                </a:solidFill>
                <a:latin typeface="Bahnschrift Light Condensed" panose="020B0502040204020203" pitchFamily="34" charset="0"/>
              </a:rPr>
              <a:t>+ </a:t>
            </a:r>
            <a:r>
              <a:rPr lang="en-GB" sz="4800">
                <a:solidFill>
                  <a:srgbClr val="C00000"/>
                </a:solidFill>
                <a:latin typeface="Bahnschrift Light Condensed" panose="020B0502040204020203" pitchFamily="34" charset="0"/>
              </a:rPr>
              <a:t>VẬT/SỰ VẬT </a:t>
            </a:r>
            <a:endParaRPr lang="en-US" altLang="zh-CN" sz="4800" b="1">
              <a:solidFill>
                <a:schemeClr val="accent1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761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0D4B-35B0-63EC-1178-DFD450EB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DC3E14-91D0-1377-E3D9-26BC92A72B21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B1777-3966-C357-90AA-2A35B5EB3D3A}"/>
              </a:ext>
            </a:extLst>
          </p:cNvPr>
          <p:cNvSpPr txBox="1"/>
          <p:nvPr/>
        </p:nvSpPr>
        <p:spPr>
          <a:xfrm>
            <a:off x="142240" y="203200"/>
            <a:ext cx="2184400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Bahnschrift Light Condensed" panose="020B0502040204020203" pitchFamily="34" charset="0"/>
              </a:rPr>
              <a:t>Luyện tập</a:t>
            </a:r>
            <a:endParaRPr lang="en-GB" sz="480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1BAED-B204-F55A-E10E-BA9B9146310F}"/>
              </a:ext>
            </a:extLst>
          </p:cNvPr>
          <p:cNvSpPr txBox="1"/>
          <p:nvPr/>
        </p:nvSpPr>
        <p:spPr>
          <a:xfrm>
            <a:off x="3012440" y="1018143"/>
            <a:ext cx="616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>
                <a:solidFill>
                  <a:srgbClr val="1F1F1F"/>
                </a:solidFill>
                <a:latin typeface="Bahnschrift Light Condensed" panose="020B0502040204020203" pitchFamily="34" charset="0"/>
              </a:rPr>
              <a:t>Chủ</a:t>
            </a:r>
            <a:r>
              <a:rPr lang="en-GB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 ngữ + Động từ + </a:t>
            </a:r>
            <a:r>
              <a:rPr lang="en-GB" sz="3600">
                <a:solidFill>
                  <a:srgbClr val="C00000"/>
                </a:solidFill>
                <a:latin typeface="Bahnschrift Light Condensed" panose="020B0502040204020203" pitchFamily="34" charset="0"/>
              </a:rPr>
              <a:t>VẬT</a:t>
            </a:r>
            <a:r>
              <a:rPr lang="en-GB" sz="3600" b="0" i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 </a:t>
            </a:r>
            <a:r>
              <a:rPr lang="en-GB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+ </a:t>
            </a:r>
            <a:r>
              <a:rPr lang="zh-CN" altLang="en-US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来 </a:t>
            </a:r>
            <a:r>
              <a:rPr lang="en-US" altLang="zh-CN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 </a:t>
            </a:r>
            <a:r>
              <a:rPr lang="zh-CN" altLang="en-US" sz="36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去</a:t>
            </a:r>
            <a:endParaRPr lang="en-US" altLang="zh-CN" sz="3600" b="0" i="0">
              <a:solidFill>
                <a:srgbClr val="1F1F1F"/>
              </a:solidFill>
              <a:effectLst/>
              <a:latin typeface="Bahnschrift Light Condensed" panose="020B0502040204020203" pitchFamily="34" charset="0"/>
            </a:endParaRPr>
          </a:p>
          <a:p>
            <a:r>
              <a:rPr lang="en-GB" sz="3600">
                <a:latin typeface="Bahnschrift Light Condensed" panose="020B0502040204020203" pitchFamily="34" charset="0"/>
              </a:rPr>
              <a:t>Chủ ngữ + Động từ + </a:t>
            </a:r>
            <a:r>
              <a:rPr lang="zh-CN" altLang="en-US" sz="3600">
                <a:latin typeface="Bahnschrift Light Condensed" panose="020B0502040204020203" pitchFamily="34" charset="0"/>
              </a:rPr>
              <a:t>来 </a:t>
            </a:r>
            <a:r>
              <a:rPr lang="en-US" altLang="zh-CN" sz="3600">
                <a:latin typeface="Bahnschrift Light Condensed" panose="020B0502040204020203" pitchFamily="34" charset="0"/>
              </a:rPr>
              <a:t>/ </a:t>
            </a:r>
            <a:r>
              <a:rPr lang="zh-CN" altLang="en-US" sz="3600">
                <a:latin typeface="Bahnschrift Light Condensed" panose="020B0502040204020203" pitchFamily="34" charset="0"/>
              </a:rPr>
              <a:t>去 </a:t>
            </a:r>
            <a:r>
              <a:rPr lang="en-GB" sz="3600">
                <a:latin typeface="Bahnschrift Light Condensed" panose="020B0502040204020203" pitchFamily="34" charset="0"/>
              </a:rPr>
              <a:t>+ </a:t>
            </a:r>
            <a:r>
              <a:rPr lang="en-GB" sz="3600">
                <a:solidFill>
                  <a:srgbClr val="C00000"/>
                </a:solidFill>
                <a:latin typeface="Bahnschrift Light Condensed" panose="020B0502040204020203" pitchFamily="34" charset="0"/>
              </a:rPr>
              <a:t>VẬT </a:t>
            </a:r>
            <a:endParaRPr lang="zh-CN" altLang="en-US" sz="3600">
              <a:solidFill>
                <a:srgbClr val="C00000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059040-8435-F4EB-9C0C-C2D691170734}"/>
              </a:ext>
            </a:extLst>
          </p:cNvPr>
          <p:cNvSpPr txBox="1"/>
          <p:nvPr/>
        </p:nvSpPr>
        <p:spPr>
          <a:xfrm>
            <a:off x="2326640" y="173316"/>
            <a:ext cx="5953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Dịch </a:t>
            </a:r>
            <a:r>
              <a:rPr lang="vi-VN" sz="4400" b="0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Việt - Trung </a:t>
            </a:r>
            <a:r>
              <a:rPr lang="en-US" sz="4400">
                <a:solidFill>
                  <a:srgbClr val="1F1F1F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</a:t>
            </a:r>
            <a:r>
              <a:rPr lang="vi-VN" b="0" i="0">
                <a:solidFill>
                  <a:schemeClr val="accent4">
                    <a:lumMod val="50000"/>
                  </a:schemeClr>
                </a:solidFill>
                <a:effectLst/>
                <a:latin typeface="Bahnschrift Light Condensed" panose="020B0502040204020203" pitchFamily="34" charset="0"/>
              </a:rPr>
              <a:t>gợi ý về hướng của người nói</a:t>
            </a:r>
            <a:r>
              <a:rPr lang="en-US" b="0" i="0">
                <a:solidFill>
                  <a:schemeClr val="accent4">
                    <a:lumMod val="50000"/>
                  </a:schemeClr>
                </a:solidFill>
                <a:effectLst/>
                <a:latin typeface="Bahnschrift Light Condensed" panose="020B0502040204020203" pitchFamily="34" charset="0"/>
              </a:rPr>
              <a:t>)</a:t>
            </a:r>
            <a:endParaRPr lang="en-GB" sz="36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C32FBA-7610-730B-DFB1-21C49CA19D77}"/>
              </a:ext>
            </a:extLst>
          </p:cNvPr>
          <p:cNvSpPr txBox="1"/>
          <p:nvPr/>
        </p:nvSpPr>
        <p:spPr>
          <a:xfrm>
            <a:off x="1356360" y="2468275"/>
            <a:ext cx="9179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Anh ấy mang một cuốn sách đến</a:t>
            </a:r>
            <a:r>
              <a:rPr lang="en-US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.</a:t>
            </a:r>
            <a:r>
              <a:rPr lang="vi-VN" sz="4000">
                <a:solidFill>
                  <a:srgbClr val="002060"/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(người nói đang ở trong phòng)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30D7D9-092D-E405-8C7F-4549DC186F26}"/>
              </a:ext>
            </a:extLst>
          </p:cNvPr>
          <p:cNvSpPr txBox="1"/>
          <p:nvPr/>
        </p:nvSpPr>
        <p:spPr>
          <a:xfrm>
            <a:off x="1356360" y="3176161"/>
            <a:ext cx="4221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他带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一本书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来。</a:t>
            </a:r>
            <a:endParaRPr lang="en-GB" altLang="zh-CN" sz="4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他带来</a:t>
            </a:r>
            <a:r>
              <a:rPr lang="zh-CN" altLang="en-US" sz="4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一本书</a:t>
            </a:r>
            <a:r>
              <a:rPr lang="zh-CN" altLang="en-US" sz="48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4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9917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0F578-A80D-8FC9-98C0-4812F6755154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AFEFA-0B60-82DB-9BF2-E393FF069F28}"/>
              </a:ext>
            </a:extLst>
          </p:cNvPr>
          <p:cNvSpPr txBox="1"/>
          <p:nvPr/>
        </p:nvSpPr>
        <p:spPr>
          <a:xfrm>
            <a:off x="873760" y="438835"/>
            <a:ext cx="1044448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vi-V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Động từ chính + 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进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出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上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下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回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过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+ </a:t>
            </a:r>
            <a:r>
              <a:rPr lang="en-US" altLang="zh-CN" sz="3600" i="0">
                <a:solidFill>
                  <a:srgbClr val="C00000"/>
                </a:solidFill>
                <a:effectLst/>
                <a:latin typeface="Bahnschrift Light Condensed" panose="020B0502040204020203" pitchFamily="34" charset="0"/>
              </a:rPr>
              <a:t>TÂN NGỮ chỉ vật 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+ 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来 </a:t>
            </a:r>
            <a:r>
              <a:rPr lang="en-US" altLang="zh-CN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/ </a:t>
            </a:r>
            <a:r>
              <a:rPr lang="zh-CN" altLang="en-US" sz="3600" b="1" i="0">
                <a:solidFill>
                  <a:srgbClr val="1F1F1F"/>
                </a:solidFill>
                <a:effectLst/>
                <a:latin typeface="Bahnschrift Light Condensed" panose="020B0502040204020203" pitchFamily="34" charset="0"/>
              </a:rPr>
              <a:t>去</a:t>
            </a:r>
            <a:endParaRPr lang="en-US" altLang="zh-CN" sz="3600" b="1" i="0">
              <a:solidFill>
                <a:srgbClr val="1F1F1F"/>
              </a:solidFill>
              <a:effectLst/>
              <a:latin typeface="Bahnschrift Light Condensed" panose="020B0502040204020203" pitchFamily="34" charset="0"/>
            </a:endParaRPr>
          </a:p>
          <a:p>
            <a:r>
              <a:rPr lang="vi-V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Động từ chính + 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进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出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上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下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回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/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过 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+ 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来 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/ </a:t>
            </a:r>
            <a:r>
              <a:rPr lang="zh-CN" altLang="en-US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去 </a:t>
            </a:r>
            <a:r>
              <a:rPr lang="en-US" altLang="zh-CN" sz="3600" b="1">
                <a:solidFill>
                  <a:srgbClr val="1F1F1F"/>
                </a:solidFill>
                <a:latin typeface="Bahnschrift Light Condensed" panose="020B0502040204020203" pitchFamily="34" charset="0"/>
              </a:rPr>
              <a:t>+ </a:t>
            </a:r>
            <a:r>
              <a:rPr lang="en-US" altLang="zh-CN" sz="3600">
                <a:solidFill>
                  <a:srgbClr val="C00000"/>
                </a:solidFill>
                <a:latin typeface="Bahnschrift Light Condensed" panose="020B0502040204020203" pitchFamily="34" charset="0"/>
              </a:rPr>
              <a:t>TÂN NGỮ chỉ vật </a:t>
            </a:r>
            <a:endParaRPr lang="en-US" altLang="zh-CN" sz="3600" b="1">
              <a:solidFill>
                <a:srgbClr val="1F1F1F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EDE22-8EF0-97FA-F746-5F6250539CBD}"/>
              </a:ext>
            </a:extLst>
          </p:cNvPr>
          <p:cNvSpPr txBox="1"/>
          <p:nvPr/>
        </p:nvSpPr>
        <p:spPr>
          <a:xfrm>
            <a:off x="1262380" y="1871395"/>
            <a:ext cx="6225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1. </a:t>
            </a:r>
            <a:r>
              <a:rPr lang="en-US" sz="4000">
                <a:latin typeface="Bahnschrift Light Condensed" panose="020B0502040204020203" pitchFamily="34" charset="0"/>
              </a:rPr>
              <a:t>Anh ta m</a:t>
            </a:r>
            <a:r>
              <a:rPr lang="vi-VN" sz="4000">
                <a:latin typeface="Bahnschrift Light Condensed" panose="020B0502040204020203" pitchFamily="34" charset="0"/>
              </a:rPr>
              <a:t>ang một cốc cà phê vào</a:t>
            </a:r>
            <a:r>
              <a:rPr lang="en-US" sz="4000">
                <a:latin typeface="Bahnschrift Light Condensed" panose="020B0502040204020203" pitchFamily="34" charset="0"/>
              </a:rPr>
              <a:t>.</a:t>
            </a:r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(hướng: người nói ở trong phòng)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42008-1D1C-42A0-8E61-42AFAFA4314D}"/>
              </a:ext>
            </a:extLst>
          </p:cNvPr>
          <p:cNvSpPr txBox="1"/>
          <p:nvPr/>
        </p:nvSpPr>
        <p:spPr>
          <a:xfrm>
            <a:off x="1513840" y="3139440"/>
            <a:ext cx="701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他带进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一杯咖啡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来。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他带进来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一杯咖啡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209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CCB29-8DDF-93C8-6B1F-B76D583988EB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C670D-6EF7-E332-BA07-6BBCCFEBABEC}"/>
              </a:ext>
            </a:extLst>
          </p:cNvPr>
          <p:cNvSpPr txBox="1"/>
          <p:nvPr/>
        </p:nvSpPr>
        <p:spPr>
          <a:xfrm>
            <a:off x="947420" y="678934"/>
            <a:ext cx="51485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2. </a:t>
            </a:r>
            <a:r>
              <a:rPr lang="en-US" sz="4000">
                <a:latin typeface="Bahnschrift Light Condensed" panose="020B0502040204020203" pitchFamily="34" charset="0"/>
              </a:rPr>
              <a:t>Mẹ tôi g</a:t>
            </a:r>
            <a:r>
              <a:rPr lang="vi-VN" sz="4000">
                <a:latin typeface="Bahnschrift Light Condensed" panose="020B0502040204020203" pitchFamily="34" charset="0"/>
              </a:rPr>
              <a:t>ửi một món quà về</a:t>
            </a:r>
            <a:r>
              <a:rPr lang="en-US" sz="4000">
                <a:latin typeface="Bahnschrift Light Condensed" panose="020B0502040204020203" pitchFamily="34" charset="0"/>
              </a:rPr>
              <a:t>.</a:t>
            </a:r>
          </a:p>
          <a:p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vi-VN" sz="28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(hướng: người nói ở quê nhà)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41A50-85AD-9FBE-93A5-6E14AE6EBD25}"/>
              </a:ext>
            </a:extLst>
          </p:cNvPr>
          <p:cNvSpPr txBox="1"/>
          <p:nvPr/>
        </p:nvSpPr>
        <p:spPr>
          <a:xfrm>
            <a:off x="1188720" y="2113280"/>
            <a:ext cx="7884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妈妈寄回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一个礼物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来。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妈妈寄回来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一个礼物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8431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B8B7-B43F-9E42-C84C-6FDA46510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753FB-DBA8-8F82-78F5-8DF71D3B91A5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5481E7-52B7-8498-6E03-B10D33996B4A}"/>
              </a:ext>
            </a:extLst>
          </p:cNvPr>
          <p:cNvSpPr txBox="1"/>
          <p:nvPr/>
        </p:nvSpPr>
        <p:spPr>
          <a:xfrm>
            <a:off x="947420" y="678934"/>
            <a:ext cx="5575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3. </a:t>
            </a:r>
            <a:r>
              <a:rPr lang="en-US" sz="4000">
                <a:latin typeface="Bahnschrift Light Condensed" panose="020B0502040204020203" pitchFamily="34" charset="0"/>
              </a:rPr>
              <a:t>Cô ta l</a:t>
            </a:r>
            <a:r>
              <a:rPr lang="vi-VN" sz="4000">
                <a:latin typeface="Bahnschrift Light Condensed" panose="020B0502040204020203" pitchFamily="34" charset="0"/>
              </a:rPr>
              <a:t>ấy một bộ quần áo ra</a:t>
            </a:r>
            <a:r>
              <a:rPr lang="en-US" sz="4000">
                <a:latin typeface="Bahnschrift Light Condensed" panose="020B0502040204020203" pitchFamily="34" charset="0"/>
              </a:rPr>
              <a:t>.</a:t>
            </a:r>
          </a:p>
          <a:p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(hướng: người nói ở ngoài sân)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D0E3-369D-20A3-A89B-062CC41FEDC1}"/>
              </a:ext>
            </a:extLst>
          </p:cNvPr>
          <p:cNvSpPr txBox="1"/>
          <p:nvPr/>
        </p:nvSpPr>
        <p:spPr>
          <a:xfrm>
            <a:off x="1188720" y="2113280"/>
            <a:ext cx="7884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她拿出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一件衣服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来。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她拿出来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一件衣服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0525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3817C-E726-3470-449B-A58C32D5D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8E822C-F29A-FD85-9260-4525A51FBB8A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DBB7D-1B31-ACF9-DD8D-63747C63BDE8}"/>
              </a:ext>
            </a:extLst>
          </p:cNvPr>
          <p:cNvSpPr txBox="1"/>
          <p:nvPr/>
        </p:nvSpPr>
        <p:spPr>
          <a:xfrm>
            <a:off x="947420" y="678934"/>
            <a:ext cx="56769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4. </a:t>
            </a:r>
            <a:r>
              <a:rPr lang="en-US" sz="4000">
                <a:latin typeface="Bahnschrift Light Condensed" panose="020B0502040204020203" pitchFamily="34" charset="0"/>
              </a:rPr>
              <a:t>Họ c</a:t>
            </a:r>
            <a:r>
              <a:rPr lang="vi-VN" sz="4000">
                <a:latin typeface="Bahnschrift Light Condensed" panose="020B0502040204020203" pitchFamily="34" charset="0"/>
              </a:rPr>
              <a:t>huyển một cái bàn lên</a:t>
            </a:r>
            <a:r>
              <a:rPr lang="en-US" sz="4000">
                <a:latin typeface="Bahnschrift Light Condensed" panose="020B0502040204020203" pitchFamily="34" charset="0"/>
              </a:rPr>
              <a:t>.</a:t>
            </a:r>
          </a:p>
          <a:p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vi-VN" sz="24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(hướng: người nói ở dưới lầu)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A3ED7-7442-81E5-DB06-AD2DF8B5CC79}"/>
              </a:ext>
            </a:extLst>
          </p:cNvPr>
          <p:cNvSpPr txBox="1"/>
          <p:nvPr/>
        </p:nvSpPr>
        <p:spPr>
          <a:xfrm>
            <a:off x="1188720" y="2113280"/>
            <a:ext cx="7884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他们搬上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一张桌子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去。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他们搬上去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一张桌子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8954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570B-B6C9-94AF-72B3-14CC2C0E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011DF6-FF9B-1B27-C50D-4DC3FDAB2C0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D295B-B41E-2822-B865-4DEE33A5B9DE}"/>
              </a:ext>
            </a:extLst>
          </p:cNvPr>
          <p:cNvSpPr txBox="1"/>
          <p:nvPr/>
        </p:nvSpPr>
        <p:spPr>
          <a:xfrm>
            <a:off x="947420" y="678934"/>
            <a:ext cx="65201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5. </a:t>
            </a:r>
            <a:r>
              <a:rPr lang="en-US" sz="4000">
                <a:latin typeface="Bahnschrift Light Condensed" panose="020B0502040204020203" pitchFamily="34" charset="0"/>
              </a:rPr>
              <a:t>Bạn m</a:t>
            </a:r>
            <a:r>
              <a:rPr lang="vi-VN" sz="4000">
                <a:latin typeface="Bahnschrift Light Condensed" panose="020B0502040204020203" pitchFamily="34" charset="0"/>
              </a:rPr>
              <a:t>ang vài cuốn sách xuống</a:t>
            </a:r>
            <a:r>
              <a:rPr lang="en-US" sz="4000">
                <a:latin typeface="Bahnschrift Light Condensed" panose="020B0502040204020203" pitchFamily="34" charset="0"/>
              </a:rPr>
              <a:t>.</a:t>
            </a:r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vi-VN" sz="28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(hướng: người nói ở dưới lầu)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2836D-D642-27AE-3C73-04E6B188D008}"/>
              </a:ext>
            </a:extLst>
          </p:cNvPr>
          <p:cNvSpPr txBox="1"/>
          <p:nvPr/>
        </p:nvSpPr>
        <p:spPr>
          <a:xfrm>
            <a:off x="1188720" y="2113280"/>
            <a:ext cx="6177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你带下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几本书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来。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你带下来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几本书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402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3F21-F258-1431-C87E-D26655E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D0E921-0434-AA41-1009-18AAC17581F0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D82E8-18DD-290C-7430-F06FCC91382E}"/>
              </a:ext>
            </a:extLst>
          </p:cNvPr>
          <p:cNvSpPr txBox="1"/>
          <p:nvPr/>
        </p:nvSpPr>
        <p:spPr>
          <a:xfrm>
            <a:off x="947420" y="678934"/>
            <a:ext cx="57277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latin typeface="Bahnschrift Light Condensed" panose="020B0502040204020203" pitchFamily="34" charset="0"/>
              </a:rPr>
              <a:t>6. Mua một chiếc xe đạp về</a:t>
            </a:r>
            <a:r>
              <a:rPr lang="en-US" sz="4000">
                <a:latin typeface="Bahnschrift Light Condensed" panose="020B0502040204020203" pitchFamily="34" charset="0"/>
              </a:rPr>
              <a:t>.</a:t>
            </a:r>
          </a:p>
          <a:p>
            <a:r>
              <a:rPr lang="vi-VN" sz="4000">
                <a:latin typeface="Bahnschrift Light Condensed" panose="020B0502040204020203" pitchFamily="34" charset="0"/>
              </a:rPr>
              <a:t> </a:t>
            </a:r>
            <a:r>
              <a:rPr lang="vi-VN" sz="2800">
                <a:solidFill>
                  <a:schemeClr val="accent4">
                    <a:lumMod val="50000"/>
                  </a:schemeClr>
                </a:solidFill>
                <a:latin typeface="Bahnschrift Light Condensed" panose="020B0502040204020203" pitchFamily="34" charset="0"/>
              </a:rPr>
              <a:t>(hướng: người nói ở công ty - xa nhà)</a:t>
            </a:r>
            <a:endParaRPr lang="en-GB" sz="4000">
              <a:solidFill>
                <a:schemeClr val="accent4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3CB33-FFD0-1C58-48E9-CAF6272E7A7B}"/>
              </a:ext>
            </a:extLst>
          </p:cNvPr>
          <p:cNvSpPr txBox="1"/>
          <p:nvPr/>
        </p:nvSpPr>
        <p:spPr>
          <a:xfrm>
            <a:off x="1178560" y="2143760"/>
            <a:ext cx="706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买回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一辆自行车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去。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买回去车</a:t>
            </a:r>
            <a:r>
              <a:rPr lang="zh-CN" altLang="en-US" sz="6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一辆自行</a:t>
            </a:r>
            <a:r>
              <a:rPr lang="zh-CN" altLang="en-US" sz="6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altLang="zh-CN" sz="6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6326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70CB0B-3F2E-6A82-E541-FC8C89278C98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C3B60-1B89-E2EE-2280-119062DC9C3F}"/>
              </a:ext>
            </a:extLst>
          </p:cNvPr>
          <p:cNvSpPr txBox="1"/>
          <p:nvPr/>
        </p:nvSpPr>
        <p:spPr>
          <a:xfrm>
            <a:off x="314960" y="375920"/>
            <a:ext cx="284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latin typeface="Bahnschrift Light Condensed" panose="020B0502040204020203" pitchFamily="34" charset="0"/>
              </a:rPr>
              <a:t>Dịch tổng hợp</a:t>
            </a:r>
            <a:endParaRPr lang="en-GB" sz="4400"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1DB1A-1EF9-4692-190D-2726FD71510D}"/>
              </a:ext>
            </a:extLst>
          </p:cNvPr>
          <p:cNvSpPr txBox="1"/>
          <p:nvPr/>
        </p:nvSpPr>
        <p:spPr>
          <a:xfrm>
            <a:off x="1737360" y="1339334"/>
            <a:ext cx="51714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1. Xu hướng: Lên (Lại gần người nói)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0D7D5-7B93-7BD4-E256-847357DC24B5}"/>
              </a:ext>
            </a:extLst>
          </p:cNvPr>
          <p:cNvSpPr txBox="1"/>
          <p:nvPr/>
        </p:nvSpPr>
        <p:spPr>
          <a:xfrm>
            <a:off x="1737360" y="3767574"/>
            <a:ext cx="51714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2. Xu hướng: Xuống (Ra xa người nói)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41507-02CF-47F9-CB55-E86F9F5224EF}"/>
              </a:ext>
            </a:extLst>
          </p:cNvPr>
          <p:cNvSpPr txBox="1"/>
          <p:nvPr/>
        </p:nvSpPr>
        <p:spPr>
          <a:xfrm>
            <a:off x="1737360" y="1983283"/>
            <a:ext cx="8582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Các bạn mau lên đây đi, cảnh trên này đẹp lắm!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快上来吧，这儿的风景很漂亮！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5DA69-B8D0-F58E-BBB7-574EB9A7DF04}"/>
              </a:ext>
            </a:extLst>
          </p:cNvPr>
          <p:cNvSpPr txBox="1"/>
          <p:nvPr/>
        </p:nvSpPr>
        <p:spPr>
          <a:xfrm>
            <a:off x="1737360" y="4400213"/>
            <a:ext cx="8582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Anh ấy vừa chạy xuống dưới lầu rồi.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他刚跑下楼去了。</a:t>
            </a:r>
          </a:p>
        </p:txBody>
      </p:sp>
    </p:spTree>
    <p:extLst>
      <p:ext uri="{BB962C8B-B14F-4D97-AF65-F5344CB8AC3E}">
        <p14:creationId xmlns:p14="http://schemas.microsoft.com/office/powerpoint/2010/main" val="1026682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FEE06-B005-F2FF-DCC9-B4F25DB9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5BAD2F-1D14-E2CD-E7ED-51EF682E8A6E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65CF1-4D31-01DE-3EAD-C7BC8DF06E33}"/>
              </a:ext>
            </a:extLst>
          </p:cNvPr>
          <p:cNvSpPr txBox="1"/>
          <p:nvPr/>
        </p:nvSpPr>
        <p:spPr>
          <a:xfrm>
            <a:off x="314960" y="375920"/>
            <a:ext cx="284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latin typeface="Bahnschrift Light Condensed" panose="020B0502040204020203" pitchFamily="34" charset="0"/>
              </a:rPr>
              <a:t>Dịch tổng hợp</a:t>
            </a:r>
            <a:endParaRPr lang="en-GB" sz="4400"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91FB3-F9F7-7960-58D6-38D198444B96}"/>
              </a:ext>
            </a:extLst>
          </p:cNvPr>
          <p:cNvSpPr txBox="1"/>
          <p:nvPr/>
        </p:nvSpPr>
        <p:spPr>
          <a:xfrm>
            <a:off x="1737360" y="1339334"/>
            <a:ext cx="51714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3. Xu hướng: Vào (Lại gần người nói)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8FAD7-7825-E21A-9C36-D43C16C10444}"/>
              </a:ext>
            </a:extLst>
          </p:cNvPr>
          <p:cNvSpPr txBox="1"/>
          <p:nvPr/>
        </p:nvSpPr>
        <p:spPr>
          <a:xfrm>
            <a:off x="1737360" y="3767574"/>
            <a:ext cx="51714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4. Xu hướng: Ra (Ra xa người nói)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C1BDA-D112-DE07-9889-59278591D5C6}"/>
              </a:ext>
            </a:extLst>
          </p:cNvPr>
          <p:cNvSpPr txBox="1"/>
          <p:nvPr/>
        </p:nvSpPr>
        <p:spPr>
          <a:xfrm>
            <a:off x="1737360" y="1983283"/>
            <a:ext cx="8582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Bên ngoài lạnh quá, mau vào phòng đi.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外面太冷了，快进房间来吧。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891BD-3457-6158-06D6-A7A45437CF0E}"/>
              </a:ext>
            </a:extLst>
          </p:cNvPr>
          <p:cNvSpPr txBox="1"/>
          <p:nvPr/>
        </p:nvSpPr>
        <p:spPr>
          <a:xfrm>
            <a:off x="1737360" y="4400213"/>
            <a:ext cx="85826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Thầy giáo từ trong văn phòng bước ra.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老师从办公室里走出来了。</a:t>
            </a:r>
          </a:p>
        </p:txBody>
      </p:sp>
    </p:spTree>
    <p:extLst>
      <p:ext uri="{BB962C8B-B14F-4D97-AF65-F5344CB8AC3E}">
        <p14:creationId xmlns:p14="http://schemas.microsoft.com/office/powerpoint/2010/main" val="1432353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9848-9C42-5025-0B9F-BD8CC5CC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1D929E-CEB8-9718-E4D3-B556F2BF96A9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A3E0B-F13F-BEF5-AE70-08D8B5E1B464}"/>
              </a:ext>
            </a:extLst>
          </p:cNvPr>
          <p:cNvSpPr txBox="1"/>
          <p:nvPr/>
        </p:nvSpPr>
        <p:spPr>
          <a:xfrm>
            <a:off x="314960" y="375920"/>
            <a:ext cx="284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latin typeface="Bahnschrift Light Condensed" panose="020B0502040204020203" pitchFamily="34" charset="0"/>
              </a:rPr>
              <a:t>Dịch tổng hợp</a:t>
            </a:r>
            <a:endParaRPr lang="en-GB" sz="4400"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2F6DB-9D81-C461-A39B-9F7C56DD6013}"/>
              </a:ext>
            </a:extLst>
          </p:cNvPr>
          <p:cNvSpPr txBox="1"/>
          <p:nvPr/>
        </p:nvSpPr>
        <p:spPr>
          <a:xfrm>
            <a:off x="1737360" y="1339334"/>
            <a:ext cx="51714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5. Xu hướng: Về (Ra xa người nói)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8854A-5219-60A6-3FA6-EEFFB19DF2E1}"/>
              </a:ext>
            </a:extLst>
          </p:cNvPr>
          <p:cNvSpPr txBox="1"/>
          <p:nvPr/>
        </p:nvSpPr>
        <p:spPr>
          <a:xfrm>
            <a:off x="1737360" y="3767574"/>
            <a:ext cx="636016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7. Xu hướng: Qua/Băng qua (Ra xa người nói)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C677B-A365-9A8B-8FE7-6BBC03B50F88}"/>
              </a:ext>
            </a:extLst>
          </p:cNvPr>
          <p:cNvSpPr txBox="1"/>
          <p:nvPr/>
        </p:nvSpPr>
        <p:spPr>
          <a:xfrm>
            <a:off x="1737360" y="1983283"/>
            <a:ext cx="9387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Khi nào bạn rảnh thì sang nhà tôi chơi nhé.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你什么时候有空儿就到我家来坐坐吧。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77CCE-DA95-FF39-8929-6DC7BB2B9687}"/>
              </a:ext>
            </a:extLst>
          </p:cNvPr>
          <p:cNvSpPr txBox="1"/>
          <p:nvPr/>
        </p:nvSpPr>
        <p:spPr>
          <a:xfrm>
            <a:off x="1737360" y="4400213"/>
            <a:ext cx="9479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Con đường này nguy hiểm quá, đừng chạy sang đó.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这条路太危险了，别跑过去。</a:t>
            </a:r>
          </a:p>
        </p:txBody>
      </p:sp>
    </p:spTree>
    <p:extLst>
      <p:ext uri="{BB962C8B-B14F-4D97-AF65-F5344CB8AC3E}">
        <p14:creationId xmlns:p14="http://schemas.microsoft.com/office/powerpoint/2010/main" val="337437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4CF4-191C-4B42-A90B-53B11D04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D22BE-7E91-65D7-D25B-B1374F24AA3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8E864-DCCD-9427-4BDF-2C4F65050F29}"/>
              </a:ext>
            </a:extLst>
          </p:cNvPr>
          <p:cNvSpPr txBox="1"/>
          <p:nvPr/>
        </p:nvSpPr>
        <p:spPr>
          <a:xfrm>
            <a:off x="314960" y="375920"/>
            <a:ext cx="284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latin typeface="Bahnschrift Light Condensed" panose="020B0502040204020203" pitchFamily="34" charset="0"/>
              </a:rPr>
              <a:t>Dịch tổng hợp</a:t>
            </a:r>
            <a:endParaRPr lang="en-GB" sz="4400"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2B982-D72E-0363-BE5C-84F730795891}"/>
              </a:ext>
            </a:extLst>
          </p:cNvPr>
          <p:cNvSpPr txBox="1"/>
          <p:nvPr/>
        </p:nvSpPr>
        <p:spPr>
          <a:xfrm>
            <a:off x="1737360" y="1339334"/>
            <a:ext cx="68986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8. Xu hướng: Lên/Khởi đầu (Hành động đứng dậy)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551A1-1889-54B0-40D7-FFA06761D600}"/>
              </a:ext>
            </a:extLst>
          </p:cNvPr>
          <p:cNvSpPr txBox="1"/>
          <p:nvPr/>
        </p:nvSpPr>
        <p:spPr>
          <a:xfrm>
            <a:off x="1737360" y="3767574"/>
            <a:ext cx="636016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9. Xu hướng: Ra (Làm cho xuất hiện/lộ diện)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C263B-6046-3A3D-218E-C29E5CDBBAC1}"/>
              </a:ext>
            </a:extLst>
          </p:cNvPr>
          <p:cNvSpPr txBox="1"/>
          <p:nvPr/>
        </p:nvSpPr>
        <p:spPr>
          <a:xfrm>
            <a:off x="1737360" y="1983283"/>
            <a:ext cx="7020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Mọi người đều đứng dậy vỗ tay.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大家都站起来鼓掌。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300B0-8340-6B6B-4749-8400467B87CB}"/>
              </a:ext>
            </a:extLst>
          </p:cNvPr>
          <p:cNvSpPr txBox="1"/>
          <p:nvPr/>
        </p:nvSpPr>
        <p:spPr>
          <a:xfrm>
            <a:off x="1737360" y="4400213"/>
            <a:ext cx="7020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Tôi không nhận ra anh ấy là ai.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我认不出来他是谁。</a:t>
            </a:r>
          </a:p>
        </p:txBody>
      </p:sp>
    </p:spTree>
    <p:extLst>
      <p:ext uri="{BB962C8B-B14F-4D97-AF65-F5344CB8AC3E}">
        <p14:creationId xmlns:p14="http://schemas.microsoft.com/office/powerpoint/2010/main" val="1564788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0436-EF3E-65A9-824B-4579E35E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5544F5-E91A-B356-E81F-26FB686F944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4D791-3D83-8C82-DAA3-918086D491F9}"/>
              </a:ext>
            </a:extLst>
          </p:cNvPr>
          <p:cNvSpPr txBox="1"/>
          <p:nvPr/>
        </p:nvSpPr>
        <p:spPr>
          <a:xfrm>
            <a:off x="314960" y="375920"/>
            <a:ext cx="284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>
                <a:latin typeface="Bahnschrift Light Condensed" panose="020B0502040204020203" pitchFamily="34" charset="0"/>
              </a:rPr>
              <a:t>Dịch tổng hợp</a:t>
            </a:r>
            <a:endParaRPr lang="en-GB" sz="4400">
              <a:latin typeface="Bahnschrift Ligh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BEDB9-A136-4079-C46E-CD1F25A54B70}"/>
              </a:ext>
            </a:extLst>
          </p:cNvPr>
          <p:cNvSpPr txBox="1"/>
          <p:nvPr/>
        </p:nvSpPr>
        <p:spPr>
          <a:xfrm>
            <a:off x="1737360" y="1339334"/>
            <a:ext cx="6898640" cy="5847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vi-VN" sz="3200">
                <a:latin typeface="Bahnschrift Light Condensed" panose="020B0502040204020203" pitchFamily="34" charset="0"/>
              </a:rPr>
              <a:t>10. Xu hướng: Xuống/Lại (Trạng thái cố định)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D1EC5-C278-6B6F-5E82-85A4596DCDB9}"/>
              </a:ext>
            </a:extLst>
          </p:cNvPr>
          <p:cNvSpPr txBox="1"/>
          <p:nvPr/>
        </p:nvSpPr>
        <p:spPr>
          <a:xfrm>
            <a:off x="1737360" y="1983283"/>
            <a:ext cx="543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Hãy viết tên của bạn lên bảng.</a:t>
            </a:r>
          </a:p>
          <a:p>
            <a:r>
              <a:rPr lang="zh-CN" altLang="en-US" sz="4000">
                <a:solidFill>
                  <a:schemeClr val="tx2"/>
                </a:solidFill>
                <a:latin typeface="Bahnschrift Light Condensed" panose="020B0502040204020203" pitchFamily="34" charset="0"/>
              </a:rPr>
              <a:t>请把你的名字写下来。</a:t>
            </a:r>
          </a:p>
        </p:txBody>
      </p:sp>
    </p:spTree>
    <p:extLst>
      <p:ext uri="{BB962C8B-B14F-4D97-AF65-F5344CB8AC3E}">
        <p14:creationId xmlns:p14="http://schemas.microsoft.com/office/powerpoint/2010/main" val="79205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B53F4F-4AEA-E191-5052-38E0CF8A8E0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4658F7C7-2C42-6F96-483A-DF28C58D015C}"/>
              </a:ext>
            </a:extLst>
          </p:cNvPr>
          <p:cNvSpPr/>
          <p:nvPr/>
        </p:nvSpPr>
        <p:spPr>
          <a:xfrm>
            <a:off x="0" y="0"/>
            <a:ext cx="1259840" cy="1188720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B874E-4ECC-90AB-2250-7938BE05D9CA}"/>
              </a:ext>
            </a:extLst>
          </p:cNvPr>
          <p:cNvSpPr txBox="1"/>
          <p:nvPr/>
        </p:nvSpPr>
        <p:spPr>
          <a:xfrm>
            <a:off x="2352040" y="594360"/>
            <a:ext cx="6548120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4000">
                <a:latin typeface="Bahnschrift Light Condensed" panose="020B0502040204020203" pitchFamily="34" charset="0"/>
              </a:rPr>
              <a:t>GHI CHÚ QUAN TRỌNG ĐỂ KHÔNG NHẦM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BA7E3-0396-B9B9-8934-81EBDD6D4E3C}"/>
              </a:ext>
            </a:extLst>
          </p:cNvPr>
          <p:cNvSpPr txBox="1"/>
          <p:nvPr/>
        </p:nvSpPr>
        <p:spPr>
          <a:xfrm>
            <a:off x="741680" y="1372116"/>
            <a:ext cx="113385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C00000"/>
                </a:solidFill>
                <a:latin typeface="Bahnschrift Light Condensed" panose="020B0502040204020203" pitchFamily="34" charset="0"/>
              </a:rPr>
              <a:t>Tân ngữ chỉ ĐỊA ĐIỂM: Chỉ có 1 cách (bắt buộc đứng GIỮA). </a:t>
            </a:r>
          </a:p>
          <a:p>
            <a:r>
              <a:rPr lang="en-GB" sz="3200">
                <a:latin typeface="Bahnschrift Light Condensed" panose="020B0502040204020203" pitchFamily="34" charset="0"/>
              </a:rPr>
              <a:t>Ví dụ: </a:t>
            </a:r>
          </a:p>
          <a:p>
            <a:r>
              <a:rPr lang="zh-CN" altLang="en-US" sz="3200">
                <a:latin typeface="Bahnschrift Light Condensed" panose="020B0502040204020203" pitchFamily="34" charset="0"/>
              </a:rPr>
              <a:t>回家去 </a:t>
            </a:r>
            <a:r>
              <a:rPr lang="en-US" altLang="zh-CN" sz="3200">
                <a:latin typeface="Bahnschrift Light Condensed" panose="020B0502040204020203" pitchFamily="34" charset="0"/>
              </a:rPr>
              <a:t>(</a:t>
            </a:r>
            <a:r>
              <a:rPr lang="en-GB" sz="3200">
                <a:latin typeface="Bahnschrift Light Condensed" panose="020B0502040204020203" pitchFamily="34" charset="0"/>
              </a:rPr>
              <a:t>Đúng)</a:t>
            </a:r>
          </a:p>
          <a:p>
            <a:r>
              <a:rPr lang="zh-CN" altLang="en-US" sz="3200">
                <a:latin typeface="Bahnschrift Light Condensed" panose="020B0502040204020203" pitchFamily="34" charset="0"/>
              </a:rPr>
              <a:t>回去家 </a:t>
            </a:r>
            <a:r>
              <a:rPr lang="en-US" altLang="zh-CN" sz="3200">
                <a:latin typeface="Bahnschrift Light Condensed" panose="020B0502040204020203" pitchFamily="34" charset="0"/>
              </a:rPr>
              <a:t>(</a:t>
            </a:r>
            <a:r>
              <a:rPr lang="en-GB" sz="3200">
                <a:latin typeface="Bahnschrift Light Condensed" panose="020B0502040204020203" pitchFamily="34" charset="0"/>
              </a:rPr>
              <a:t>Sai)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solidFill>
                  <a:srgbClr val="C00000"/>
                </a:solidFill>
                <a:latin typeface="Bahnschrift Light Condensed" panose="020B0502040204020203" pitchFamily="34" charset="0"/>
              </a:rPr>
              <a:t>Tân ngữ chỉ VẬT THỂ: </a:t>
            </a:r>
            <a:endParaRPr lang="en-US" sz="3200">
              <a:solidFill>
                <a:srgbClr val="C00000"/>
              </a:solidFill>
              <a:latin typeface="Bahnschrift Light Condensed" panose="020B0502040204020203" pitchFamily="34" charset="0"/>
            </a:endParaRPr>
          </a:p>
          <a:p>
            <a:r>
              <a:rPr lang="vi-VN" sz="3200">
                <a:latin typeface="Bahnschrift Light Condensed" panose="020B0502040204020203" pitchFamily="34" charset="0"/>
              </a:rPr>
              <a:t>Có 2 cách như trên.</a:t>
            </a:r>
            <a:endParaRPr lang="en-GB" sz="32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solidFill>
                  <a:srgbClr val="C00000"/>
                </a:solidFill>
                <a:latin typeface="Bahnschrift Light Condensed" panose="020B0502040204020203" pitchFamily="34" charset="0"/>
              </a:rPr>
              <a:t>Về mặt âm điệu: </a:t>
            </a:r>
            <a:endParaRPr lang="en-US" sz="3200">
              <a:solidFill>
                <a:srgbClr val="C00000"/>
              </a:solidFill>
              <a:latin typeface="Bahnschrift Light Condensed" panose="020B0502040204020203" pitchFamily="34" charset="0"/>
            </a:endParaRPr>
          </a:p>
          <a:p>
            <a:r>
              <a:rPr lang="vi-VN" sz="3200">
                <a:latin typeface="Bahnschrift Light Condensed" panose="020B0502040204020203" pitchFamily="34" charset="0"/>
              </a:rPr>
              <a:t>Cách 2 </a:t>
            </a:r>
            <a:r>
              <a:rPr lang="en-US" sz="3200">
                <a:solidFill>
                  <a:schemeClr val="accent1">
                    <a:lumMod val="75000"/>
                  </a:schemeClr>
                </a:solidFill>
                <a:latin typeface="Bahnschrift Light Condensed" panose="020B0502040204020203" pitchFamily="34" charset="0"/>
              </a:rPr>
              <a:t>(đối tân ngữ chỉ vật/tân ngữ ở sau bổ ngữ xu hướng) </a:t>
            </a:r>
            <a:r>
              <a:rPr lang="vi-VN" sz="2800">
                <a:latin typeface="Bahnschrift Light Condensed" panose="020B0502040204020203" pitchFamily="34" charset="0"/>
              </a:rPr>
              <a:t>thường được dùng nhiều hơn trong khẩu ngữ vì nó giúp động từ và bổ ngữ xu hướng kết nối chặt chẽ, nghe trôi chảy hơn.</a:t>
            </a:r>
            <a:endParaRPr lang="en-GB" sz="320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758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B36B1-7B51-73DA-4BD0-54C724D6B4B0}"/>
              </a:ext>
            </a:extLst>
          </p:cNvPr>
          <p:cNvSpPr txBox="1"/>
          <p:nvPr/>
        </p:nvSpPr>
        <p:spPr>
          <a:xfrm>
            <a:off x="4897120" y="2641600"/>
            <a:ext cx="2733040" cy="1015663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Bahnschrift Light Condensed" panose="020B0502040204020203" pitchFamily="34" charset="0"/>
              </a:rPr>
              <a:t>ĐỌC THÊM</a:t>
            </a:r>
            <a:endParaRPr lang="en-GB" sz="600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96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2325D-F4F9-FC51-EB82-74122AC533C2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29AE4BDD-6D3F-B35B-946C-93F9F503F0CB}"/>
              </a:ext>
            </a:extLst>
          </p:cNvPr>
          <p:cNvSpPr/>
          <p:nvPr/>
        </p:nvSpPr>
        <p:spPr>
          <a:xfrm>
            <a:off x="0" y="0"/>
            <a:ext cx="1259840" cy="1188720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B14F8-C9FA-2234-3C0A-5EFEF34620A1}"/>
              </a:ext>
            </a:extLst>
          </p:cNvPr>
          <p:cNvSpPr txBox="1"/>
          <p:nvPr/>
        </p:nvSpPr>
        <p:spPr>
          <a:xfrm>
            <a:off x="3553460" y="594360"/>
            <a:ext cx="5085080" cy="113877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Bahnschrift Light Condensed" panose="020B0502040204020203" pitchFamily="34" charset="0"/>
              </a:rPr>
              <a:t>VỊ TRÍ CỦA TRỢ TỪ ĐỘNG THÁI </a:t>
            </a:r>
          </a:p>
          <a:p>
            <a:pPr algn="ctr"/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(trong câu có Bổ ngữ xu hướng)</a:t>
            </a:r>
            <a:endParaRPr lang="en-GB" sz="28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A0DF6-9D52-0332-3C47-3DB324BE3E46}"/>
              </a:ext>
            </a:extLst>
          </p:cNvPr>
          <p:cNvSpPr txBox="1"/>
          <p:nvPr/>
        </p:nvSpPr>
        <p:spPr>
          <a:xfrm>
            <a:off x="1102360" y="2121654"/>
            <a:ext cx="610616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1. Đối với trợ từ </a:t>
            </a:r>
            <a:r>
              <a:rPr lang="zh-CN" altLang="en-US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了 </a:t>
            </a:r>
            <a:r>
              <a:rPr lang="en-US" altLang="zh-CN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GB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biểu thị sự hoàn thành)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74CB0-F0DE-E8A1-2BDB-27C63C662378}"/>
              </a:ext>
            </a:extLst>
          </p:cNvPr>
          <p:cNvSpPr txBox="1"/>
          <p:nvPr/>
        </p:nvSpPr>
        <p:spPr>
          <a:xfrm>
            <a:off x="1010920" y="2706429"/>
            <a:ext cx="7249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>
                <a:solidFill>
                  <a:schemeClr val="tx2"/>
                </a:solidFill>
                <a:latin typeface="Bahnschrift Light Condensed" panose="020B0502040204020203" pitchFamily="34" charset="0"/>
              </a:rPr>
              <a:t>Quy tắc này chia làm hai trường hợp dựa trên loại tân ngữ:</a:t>
            </a:r>
            <a:endParaRPr lang="en-GB" sz="2800">
              <a:solidFill>
                <a:schemeClr val="tx2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997A3-9D92-AFF8-B203-D1B2CB25FDA1}"/>
              </a:ext>
            </a:extLst>
          </p:cNvPr>
          <p:cNvSpPr txBox="1"/>
          <p:nvPr/>
        </p:nvSpPr>
        <p:spPr>
          <a:xfrm>
            <a:off x="1010920" y="3260784"/>
            <a:ext cx="5471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vi-VN" sz="3200">
                <a:solidFill>
                  <a:schemeClr val="accent6">
                    <a:lumMod val="50000"/>
                  </a:schemeClr>
                </a:solidFill>
                <a:latin typeface="Bahnschrift Light Condensed" panose="020B0502040204020203" pitchFamily="34" charset="0"/>
              </a:rPr>
              <a:t>Trường hợp Tân ngữ là ĐỊA ĐIỂM: </a:t>
            </a:r>
            <a:endParaRPr lang="en-GB" sz="3200">
              <a:solidFill>
                <a:schemeClr val="accent6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09D66-02BA-FDB9-C58C-7C5DFAF71D54}"/>
              </a:ext>
            </a:extLst>
          </p:cNvPr>
          <p:cNvSpPr txBox="1"/>
          <p:nvPr/>
        </p:nvSpPr>
        <p:spPr>
          <a:xfrm>
            <a:off x="1485900" y="3865751"/>
            <a:ext cx="70281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了</a:t>
            </a:r>
            <a:r>
              <a:rPr lang="en-US" altLang="zh-CN" sz="2800">
                <a:latin typeface="Bahnschrift Light Condensed" panose="020B0502040204020203" pitchFamily="34" charset="0"/>
              </a:rPr>
              <a:t> </a:t>
            </a:r>
            <a:r>
              <a:rPr lang="vi-VN" sz="2800">
                <a:latin typeface="Bahnschrift Light Condensed" panose="020B0502040204020203" pitchFamily="34" charset="0"/>
              </a:rPr>
              <a:t>không bao giờ được đứng ngay sau động từ chính.</a:t>
            </a:r>
            <a:endParaRPr lang="en-US" sz="28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Bahnschrift Light Condensed" panose="020B0502040204020203" pitchFamily="34" charset="0"/>
              </a:rPr>
              <a:t>Nó phải đứng ở cuối câu (sau </a:t>
            </a:r>
            <a:r>
              <a:rPr lang="zh-CN" altLang="en-US" sz="2800">
                <a:latin typeface="Bahnschrift Light Condensed" panose="020B0502040204020203" pitchFamily="34" charset="0"/>
              </a:rPr>
              <a:t>来</a:t>
            </a:r>
            <a:r>
              <a:rPr lang="en-US" altLang="zh-CN" sz="2800">
                <a:latin typeface="Bahnschrift Light Condensed" panose="020B0502040204020203" pitchFamily="34" charset="0"/>
              </a:rPr>
              <a:t>/</a:t>
            </a:r>
            <a:r>
              <a:rPr lang="zh-CN" altLang="en-US" sz="2800">
                <a:latin typeface="Bahnschrift Light Condensed" panose="020B0502040204020203" pitchFamily="34" charset="0"/>
              </a:rPr>
              <a:t>去</a:t>
            </a:r>
            <a:r>
              <a:rPr lang="en-US" altLang="zh-CN" sz="2800">
                <a:latin typeface="Bahnschrift Light Condensed" panose="020B0502040204020203" pitchFamily="34" charset="0"/>
              </a:rPr>
              <a:t>).</a:t>
            </a:r>
            <a:endParaRPr lang="en-GB" sz="2800">
              <a:latin typeface="Bahnschrift Light Condensed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269D9-6FCC-563E-C1D6-66AA457412C5}"/>
              </a:ext>
            </a:extLst>
          </p:cNvPr>
          <p:cNvSpPr txBox="1"/>
          <p:nvPr/>
        </p:nvSpPr>
        <p:spPr>
          <a:xfrm>
            <a:off x="1010920" y="4871185"/>
            <a:ext cx="5085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vi-VN" sz="3200">
                <a:solidFill>
                  <a:schemeClr val="accent6">
                    <a:lumMod val="50000"/>
                  </a:schemeClr>
                </a:solidFill>
                <a:latin typeface="Bahnschrift Light Condensed" panose="020B0502040204020203" pitchFamily="34" charset="0"/>
              </a:rPr>
              <a:t>Trường hợp Tân ngữ là ĐỊA ĐIỂM: </a:t>
            </a:r>
            <a:endParaRPr lang="en-GB" sz="3200">
              <a:solidFill>
                <a:schemeClr val="accent6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E87AAD-0290-40CF-85D7-119E63112FB4}"/>
              </a:ext>
            </a:extLst>
          </p:cNvPr>
          <p:cNvSpPr txBox="1"/>
          <p:nvPr/>
        </p:nvSpPr>
        <p:spPr>
          <a:xfrm>
            <a:off x="1506220" y="5527479"/>
            <a:ext cx="7221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了</a:t>
            </a:r>
            <a:r>
              <a:rPr lang="en-US" altLang="zh-CN" sz="2800" b="1">
                <a:solidFill>
                  <a:srgbClr val="C00000"/>
                </a:solidFill>
                <a:latin typeface="Bahnschrift Light Condensed" panose="020B0502040204020203" pitchFamily="34" charset="0"/>
              </a:rPr>
              <a:t> </a:t>
            </a:r>
            <a:r>
              <a:rPr lang="vi-VN" altLang="zh-CN" sz="2800">
                <a:latin typeface="Bahnschrift Light Condensed" panose="020B0502040204020203" pitchFamily="34" charset="0"/>
              </a:rPr>
              <a:t>thường đứng ngay sau động từ chính để nhấn mạnh việc hoàn thành một số lượng cụ thể.</a:t>
            </a:r>
            <a:r>
              <a:rPr lang="en-US" altLang="zh-CN" sz="2800">
                <a:latin typeface="Bahnschrift Light Condensed" panose="020B0502040204020203" pitchFamily="34" charset="0"/>
              </a:rPr>
              <a:t> </a:t>
            </a:r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Bahnschrift Light Condensed" panose="020B0502040204020203" pitchFamily="34" charset="0"/>
              </a:rPr>
              <a:t>(Danh từ kèm số lượng)</a:t>
            </a:r>
            <a:endParaRPr lang="en-GB" sz="2800">
              <a:solidFill>
                <a:schemeClr val="accent1">
                  <a:lumMod val="75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131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397F-FD78-0ABF-F17C-9D9B7E08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52C857-49D5-7732-1600-D3DD9B49BB93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AF44F519-6616-6DF5-FFD9-FE2B495A208D}"/>
              </a:ext>
            </a:extLst>
          </p:cNvPr>
          <p:cNvSpPr/>
          <p:nvPr/>
        </p:nvSpPr>
        <p:spPr>
          <a:xfrm>
            <a:off x="0" y="0"/>
            <a:ext cx="1259840" cy="1188720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59CB7-E71A-D546-452E-BECB80020A4D}"/>
              </a:ext>
            </a:extLst>
          </p:cNvPr>
          <p:cNvSpPr txBox="1"/>
          <p:nvPr/>
        </p:nvSpPr>
        <p:spPr>
          <a:xfrm>
            <a:off x="3553460" y="594360"/>
            <a:ext cx="5085080" cy="113877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Bahnschrift Light Condensed" panose="020B0502040204020203" pitchFamily="34" charset="0"/>
              </a:rPr>
              <a:t>VỊ TRÍ CỦA TRỢ TỪ ĐỘNG THÁI </a:t>
            </a:r>
          </a:p>
          <a:p>
            <a:pPr algn="ctr"/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(trong câu có Bổ ngữ xu hướng)</a:t>
            </a:r>
            <a:endParaRPr lang="en-GB" sz="28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E1553-A0EB-753D-89E0-F58E5732B0A1}"/>
              </a:ext>
            </a:extLst>
          </p:cNvPr>
          <p:cNvSpPr txBox="1"/>
          <p:nvPr/>
        </p:nvSpPr>
        <p:spPr>
          <a:xfrm>
            <a:off x="1102360" y="2121654"/>
            <a:ext cx="610616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2. Đối với trợ từ </a:t>
            </a:r>
            <a:r>
              <a:rPr lang="zh-CN" altLang="en-US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过 </a:t>
            </a:r>
            <a:r>
              <a:rPr lang="en-US" altLang="zh-CN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GB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Biểu thị trải nghiệm)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1087D-1623-2167-6193-F79206FDF686}"/>
              </a:ext>
            </a:extLst>
          </p:cNvPr>
          <p:cNvSpPr txBox="1"/>
          <p:nvPr/>
        </p:nvSpPr>
        <p:spPr>
          <a:xfrm>
            <a:off x="1041400" y="2788523"/>
            <a:ext cx="78689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Trợ từ </a:t>
            </a:r>
            <a:r>
              <a:rPr lang="zh-CN" altLang="en-US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过</a:t>
            </a:r>
            <a:r>
              <a:rPr lang="en-US" altLang="zh-C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có vị trí cố định hơn: </a:t>
            </a:r>
            <a:endParaRPr lang="en-US" sz="3200">
              <a:solidFill>
                <a:schemeClr val="bg2">
                  <a:lumMod val="25000"/>
                </a:schemeClr>
              </a:solidFill>
              <a:latin typeface="Bahnschrift Light Condensed" panose="020B0502040204020203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Bắt buộc đứng sau động từ chính</a:t>
            </a:r>
          </a:p>
          <a:p>
            <a:pPr marL="457200" indent="-457200">
              <a:buFontTx/>
              <a:buChar char="-"/>
            </a:pPr>
            <a:r>
              <a:rPr lang="en-US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Trước tân ngữ chỉ vật/địa điểm + bổ ngữ xu hướng</a:t>
            </a:r>
          </a:p>
        </p:txBody>
      </p:sp>
    </p:spTree>
    <p:extLst>
      <p:ext uri="{BB962C8B-B14F-4D97-AF65-F5344CB8AC3E}">
        <p14:creationId xmlns:p14="http://schemas.microsoft.com/office/powerpoint/2010/main" val="933807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82E87-F94D-6F0D-37B4-C7BC24DF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6F12F8-970A-E625-A6CC-8288837A3C85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xplosion: 8 Points 2">
            <a:extLst>
              <a:ext uri="{FF2B5EF4-FFF2-40B4-BE49-F238E27FC236}">
                <a16:creationId xmlns:a16="http://schemas.microsoft.com/office/drawing/2014/main" id="{EF898DEF-A7B8-8915-CED3-7B22C78E9F54}"/>
              </a:ext>
            </a:extLst>
          </p:cNvPr>
          <p:cNvSpPr/>
          <p:nvPr/>
        </p:nvSpPr>
        <p:spPr>
          <a:xfrm>
            <a:off x="0" y="0"/>
            <a:ext cx="1259840" cy="1188720"/>
          </a:xfrm>
          <a:prstGeom prst="irregularSeal1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BC450-0651-C291-18E9-1B7C89F66F62}"/>
              </a:ext>
            </a:extLst>
          </p:cNvPr>
          <p:cNvSpPr txBox="1"/>
          <p:nvPr/>
        </p:nvSpPr>
        <p:spPr>
          <a:xfrm>
            <a:off x="3553460" y="594360"/>
            <a:ext cx="5085080" cy="113877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Bahnschrift Light Condensed" panose="020B0502040204020203" pitchFamily="34" charset="0"/>
              </a:rPr>
              <a:t>VỊ TRÍ CỦA TRỢ TỪ ĐỘNG THÁI </a:t>
            </a:r>
          </a:p>
          <a:p>
            <a:pPr algn="ctr"/>
            <a:r>
              <a:rPr lang="en-US" sz="2800">
                <a:solidFill>
                  <a:schemeClr val="accent2">
                    <a:lumMod val="50000"/>
                  </a:schemeClr>
                </a:solidFill>
                <a:latin typeface="Bahnschrift Light Condensed" panose="020B0502040204020203" pitchFamily="34" charset="0"/>
              </a:rPr>
              <a:t>(trong câu có Bổ ngữ xu hướng)</a:t>
            </a:r>
            <a:endParaRPr lang="en-GB" sz="2800">
              <a:solidFill>
                <a:schemeClr val="accent2">
                  <a:lumMod val="50000"/>
                </a:schemeClr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E911A-5F3D-A9AC-22EC-01B07CC470CE}"/>
              </a:ext>
            </a:extLst>
          </p:cNvPr>
          <p:cNvSpPr txBox="1"/>
          <p:nvPr/>
        </p:nvSpPr>
        <p:spPr>
          <a:xfrm>
            <a:off x="1102360" y="2121654"/>
            <a:ext cx="714756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3. Đối với trợ từ </a:t>
            </a:r>
            <a:r>
              <a:rPr lang="zh-CN" altLang="en-US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着 </a:t>
            </a:r>
            <a:r>
              <a:rPr lang="en-US" altLang="zh-CN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GB" sz="3200" b="1">
                <a:solidFill>
                  <a:schemeClr val="bg1"/>
                </a:solidFill>
                <a:latin typeface="Bahnschrift Light Condensed" panose="020B0502040204020203" pitchFamily="34" charset="0"/>
              </a:rPr>
              <a:t>Biểu thị trạng thái tiếp diễn)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DDEB1-AEC8-6199-347E-A121636BB7F9}"/>
              </a:ext>
            </a:extLst>
          </p:cNvPr>
          <p:cNvSpPr txBox="1"/>
          <p:nvPr/>
        </p:nvSpPr>
        <p:spPr>
          <a:xfrm>
            <a:off x="1041400" y="2788523"/>
            <a:ext cx="10134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Trong cấu trúc bổ ngữ xu hướng, trợ từ </a:t>
            </a:r>
            <a:r>
              <a:rPr lang="zh-CN" altLang="en-US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着</a:t>
            </a:r>
            <a:r>
              <a:rPr lang="en-US" altLang="zh-C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vi-V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rất ít khi dùng kèm. </a:t>
            </a:r>
            <a:endParaRPr lang="en-US" sz="3200">
              <a:solidFill>
                <a:schemeClr val="bg2">
                  <a:lumMod val="25000"/>
                </a:schemeClr>
              </a:solidFill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3200">
                <a:solidFill>
                  <a:schemeClr val="bg2">
                    <a:lumMod val="25000"/>
                  </a:schemeClr>
                </a:solidFill>
                <a:latin typeface="Bahnschrift Light Condensed" panose="020B0502040204020203" pitchFamily="34" charset="0"/>
              </a:rPr>
              <a:t>Tuy nhiên, nếu có dùng để miêu tả cách thức hành động đang diễn ra, nó cũng đứng ngay sau động từ chính.</a:t>
            </a:r>
            <a:endParaRPr lang="en-US" sz="3200">
              <a:solidFill>
                <a:schemeClr val="bg2">
                  <a:lumMod val="25000"/>
                </a:schemeClr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930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890BA1-0D57-2A36-4A12-F1489F9FDFD5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ibbon: Tilted Up 2">
            <a:extLst>
              <a:ext uri="{FF2B5EF4-FFF2-40B4-BE49-F238E27FC236}">
                <a16:creationId xmlns:a16="http://schemas.microsoft.com/office/drawing/2014/main" id="{15D7BBC4-7772-1887-6A29-252477AC11A2}"/>
              </a:ext>
            </a:extLst>
          </p:cNvPr>
          <p:cNvSpPr/>
          <p:nvPr/>
        </p:nvSpPr>
        <p:spPr>
          <a:xfrm>
            <a:off x="304800" y="406400"/>
            <a:ext cx="1727200" cy="772160"/>
          </a:xfrm>
          <a:prstGeom prst="ribbon2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8C224-1237-6DA1-7620-DF0632DBD920}"/>
              </a:ext>
            </a:extLst>
          </p:cNvPr>
          <p:cNvSpPr txBox="1"/>
          <p:nvPr/>
        </p:nvSpPr>
        <p:spPr>
          <a:xfrm>
            <a:off x="2032000" y="406400"/>
            <a:ext cx="22021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>
                <a:latin typeface="Bahnschrift Light Condensed" panose="020B0502040204020203" pitchFamily="34" charset="0"/>
              </a:rPr>
              <a:t>MẸO NHỚ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27F5F-9E44-159F-6D94-161DF646414B}"/>
              </a:ext>
            </a:extLst>
          </p:cNvPr>
          <p:cNvSpPr txBox="1"/>
          <p:nvPr/>
        </p:nvSpPr>
        <p:spPr>
          <a:xfrm>
            <a:off x="822960" y="2003475"/>
            <a:ext cx="112674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>
                <a:latin typeface="Bahnschrift Light Condensed" panose="020B0502040204020203" pitchFamily="34" charset="0"/>
              </a:rPr>
              <a:t>Địa điểm là "kẻ chia rẽ": </a:t>
            </a:r>
          </a:p>
          <a:p>
            <a:r>
              <a:rPr lang="en-GB" sz="2800">
                <a:latin typeface="Bahnschrift Light Condensed" panose="020B0502040204020203" pitchFamily="34" charset="0"/>
              </a:rPr>
              <a:t>Nó luôn nhảy vào giữa để tách biệt các thành phần (V + Địa điểm + </a:t>
            </a:r>
            <a:r>
              <a:rPr lang="zh-CN" altLang="en-US" sz="2800">
                <a:latin typeface="Bahnschrift Light Condensed" panose="020B0502040204020203" pitchFamily="34" charset="0"/>
              </a:rPr>
              <a:t>来</a:t>
            </a:r>
            <a:r>
              <a:rPr lang="en-US" altLang="zh-CN" sz="2800">
                <a:latin typeface="Bahnschrift Light Condensed" panose="020B0502040204020203" pitchFamily="34" charset="0"/>
              </a:rPr>
              <a:t>/</a:t>
            </a:r>
            <a:r>
              <a:rPr lang="zh-CN" altLang="en-US" sz="2800">
                <a:latin typeface="Bahnschrift Light Condensed" panose="020B0502040204020203" pitchFamily="34" charset="0"/>
              </a:rPr>
              <a:t>去</a:t>
            </a:r>
            <a:r>
              <a:rPr lang="en-US" altLang="zh-CN" sz="2800">
                <a:latin typeface="Bahnschrift Light Condensed" panose="020B0502040204020203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C00000"/>
                </a:solidFill>
                <a:latin typeface="Bahnschrift Light Condensed" panose="020B0502040204020203" pitchFamily="34" charset="0"/>
              </a:rPr>
              <a:t>过</a:t>
            </a:r>
            <a:r>
              <a:rPr lang="zh-CN" altLang="en-US" sz="2800">
                <a:latin typeface="Bahnschrift Light Condensed" panose="020B0502040204020203" pitchFamily="34" charset="0"/>
              </a:rPr>
              <a:t> </a:t>
            </a:r>
            <a:r>
              <a:rPr lang="vi-VN" sz="2800">
                <a:latin typeface="Bahnschrift Light Condensed" panose="020B0502040204020203" pitchFamily="34" charset="0"/>
              </a:rPr>
              <a:t>và </a:t>
            </a:r>
            <a:r>
              <a:rPr lang="zh-CN" altLang="en-US" sz="2800">
                <a:solidFill>
                  <a:srgbClr val="C00000"/>
                </a:solidFill>
                <a:latin typeface="Bahnschrift Light Condensed" panose="020B0502040204020203" pitchFamily="34" charset="0"/>
              </a:rPr>
              <a:t>着</a:t>
            </a:r>
            <a:r>
              <a:rPr lang="zh-CN" altLang="en-US" sz="2800">
                <a:latin typeface="Bahnschrift Light Condensed" panose="020B0502040204020203" pitchFamily="34" charset="0"/>
              </a:rPr>
              <a:t> </a:t>
            </a:r>
            <a:r>
              <a:rPr lang="vi-VN" sz="2800">
                <a:latin typeface="Bahnschrift Light Condensed" panose="020B0502040204020203" pitchFamily="34" charset="0"/>
              </a:rPr>
              <a:t>là "người thân" của Động từ: </a:t>
            </a:r>
            <a:endParaRPr lang="en-US" sz="2800">
              <a:latin typeface="Bahnschrift Light Condensed" panose="020B0502040204020203" pitchFamily="34" charset="0"/>
            </a:endParaRPr>
          </a:p>
          <a:p>
            <a:r>
              <a:rPr lang="vi-VN" sz="2800">
                <a:latin typeface="Bahnschrift Light Condensed" panose="020B0502040204020203" pitchFamily="34" charset="0"/>
              </a:rPr>
              <a:t>Luôn bám sát ngay sau động từ chính.</a:t>
            </a:r>
            <a:endParaRPr lang="en-US" sz="28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>
              <a:latin typeface="Bahnschrift 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C00000"/>
                </a:solidFill>
                <a:latin typeface="Bahnschrift Light Condensed" panose="020B0502040204020203" pitchFamily="34" charset="0"/>
              </a:rPr>
              <a:t>了 </a:t>
            </a:r>
            <a:r>
              <a:rPr lang="vi-VN" sz="2800">
                <a:latin typeface="Bahnschrift Light Condensed" panose="020B0502040204020203" pitchFamily="34" charset="0"/>
              </a:rPr>
              <a:t>là "kẻ linh hoạt": </a:t>
            </a:r>
            <a:endParaRPr lang="en-US" sz="2800">
              <a:latin typeface="Bahnschrift Light Condensed" panose="020B0502040204020203" pitchFamily="34" charset="0"/>
            </a:endParaRPr>
          </a:p>
          <a:p>
            <a:r>
              <a:rPr lang="vi-VN" sz="2800">
                <a:latin typeface="Bahnschrift Light Condensed" panose="020B0502040204020203" pitchFamily="34" charset="0"/>
              </a:rPr>
              <a:t>Thấy số lượng thì đứng sau V, thấy địa điểm thì chạy xuống cuối câu.</a:t>
            </a:r>
            <a:endParaRPr lang="en-GB" sz="280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29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7B8698-5E08-D963-2810-A840FFDC80AD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F577F-8872-5B73-39B4-D99FAFF9FF02}"/>
              </a:ext>
            </a:extLst>
          </p:cNvPr>
          <p:cNvSpPr txBox="1"/>
          <p:nvPr/>
        </p:nvSpPr>
        <p:spPr>
          <a:xfrm>
            <a:off x="142240" y="203200"/>
            <a:ext cx="2184400" cy="83099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Bahnschrift Light Condensed" panose="020B0502040204020203" pitchFamily="34" charset="0"/>
              </a:rPr>
              <a:t>Luyện tập</a:t>
            </a:r>
            <a:endParaRPr lang="en-GB" sz="480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DF0EA-BF8A-C417-B05A-2DB1CC23561C}"/>
              </a:ext>
            </a:extLst>
          </p:cNvPr>
          <p:cNvSpPr txBox="1"/>
          <p:nvPr/>
        </p:nvSpPr>
        <p:spPr>
          <a:xfrm>
            <a:off x="2204720" y="2052320"/>
            <a:ext cx="478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他回家去</a:t>
            </a:r>
            <a:r>
              <a:rPr lang="zh-CN" altLang="en-US" sz="5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了</a:t>
            </a:r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GB" sz="5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022E4-767A-F36F-E438-7CE098E8D0BD}"/>
              </a:ext>
            </a:extLst>
          </p:cNvPr>
          <p:cNvSpPr txBox="1"/>
          <p:nvPr/>
        </p:nvSpPr>
        <p:spPr>
          <a:xfrm>
            <a:off x="2204720" y="4099282"/>
            <a:ext cx="599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他买</a:t>
            </a:r>
            <a:r>
              <a:rPr lang="zh-CN" altLang="en-US" sz="5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了</a:t>
            </a:r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一把伞回来。</a:t>
            </a:r>
            <a:endParaRPr lang="en-GB" sz="5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8731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FB82-5836-C184-AF55-50C16E8B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844882-D252-CCF0-DD87-570B9CFEE084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9B5DED-FDF6-108D-5670-7E41E354E2ED}"/>
              </a:ext>
            </a:extLst>
          </p:cNvPr>
          <p:cNvSpPr txBox="1"/>
          <p:nvPr/>
        </p:nvSpPr>
        <p:spPr>
          <a:xfrm>
            <a:off x="2204720" y="2052320"/>
            <a:ext cx="8422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我以前进</a:t>
            </a:r>
            <a:r>
              <a:rPr lang="zh-CN" altLang="en-US" sz="5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过</a:t>
            </a:r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那个办公室去。</a:t>
            </a:r>
            <a:endParaRPr lang="en-GB" sz="5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A5D65-1862-B0D0-7A8F-6448CEB712C5}"/>
              </a:ext>
            </a:extLst>
          </p:cNvPr>
          <p:cNvSpPr txBox="1"/>
          <p:nvPr/>
        </p:nvSpPr>
        <p:spPr>
          <a:xfrm>
            <a:off x="2204720" y="4099282"/>
            <a:ext cx="709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他带</a:t>
            </a:r>
            <a:r>
              <a:rPr lang="zh-CN" altLang="en-US" sz="5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过</a:t>
            </a:r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一件衣服回来。</a:t>
            </a:r>
            <a:endParaRPr lang="en-GB" sz="5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9184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1134-B790-C1E1-0956-DFD47BF4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6E42A2-F5BE-3879-EF09-07DA5FC88F1E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61FB1-60FC-1466-8797-A286B5F4D87A}"/>
              </a:ext>
            </a:extLst>
          </p:cNvPr>
          <p:cNvSpPr txBox="1"/>
          <p:nvPr/>
        </p:nvSpPr>
        <p:spPr>
          <a:xfrm>
            <a:off x="2204720" y="2052320"/>
            <a:ext cx="764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他拿</a:t>
            </a:r>
            <a:r>
              <a:rPr lang="zh-CN" altLang="en-US" sz="5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着</a:t>
            </a:r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一份报告走过来。</a:t>
            </a:r>
            <a:endParaRPr lang="en-GB" sz="5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39D7A-BF3C-FA57-E1DE-A779404B6626}"/>
              </a:ext>
            </a:extLst>
          </p:cNvPr>
          <p:cNvSpPr txBox="1"/>
          <p:nvPr/>
        </p:nvSpPr>
        <p:spPr>
          <a:xfrm>
            <a:off x="2204720" y="4099282"/>
            <a:ext cx="4795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他背</a:t>
            </a:r>
            <a:r>
              <a:rPr lang="zh-CN" altLang="en-US" sz="5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着</a:t>
            </a:r>
            <a:r>
              <a:rPr lang="zh-CN" altLang="en-US" sz="5400" b="1">
                <a:latin typeface="SimSun" panose="02010600030101010101" pitchFamily="2" charset="-122"/>
                <a:ea typeface="SimSun" panose="02010600030101010101" pitchFamily="2" charset="-122"/>
              </a:rPr>
              <a:t>书包来。</a:t>
            </a:r>
            <a:endParaRPr lang="en-GB" sz="5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169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2095</Words>
  <Application>Microsoft Office PowerPoint</Application>
  <PresentationFormat>Widescreen</PresentationFormat>
  <Paragraphs>223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SimSun</vt:lpstr>
      <vt:lpstr>Arial</vt:lpstr>
      <vt:lpstr>Bahnschrift Light Condensed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71</cp:revision>
  <dcterms:created xsi:type="dcterms:W3CDTF">2026-01-26T04:20:21Z</dcterms:created>
  <dcterms:modified xsi:type="dcterms:W3CDTF">2026-02-23T15:54:36Z</dcterms:modified>
</cp:coreProperties>
</file>